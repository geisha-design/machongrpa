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3" r:id="rId4"/>
  </p:sldMasterIdLst>
  <p:notesMasterIdLst>
    <p:notesMasterId r:id="rId8"/>
  </p:notesMasterIdLst>
  <p:handoutMasterIdLst>
    <p:handoutMasterId r:id="rId21"/>
  </p:handoutMasterIdLst>
  <p:sldIdLst>
    <p:sldId id="256" r:id="rId5"/>
    <p:sldId id="258" r:id="rId6"/>
    <p:sldId id="268" r:id="rId7"/>
    <p:sldId id="259" r:id="rId9"/>
    <p:sldId id="270" r:id="rId10"/>
    <p:sldId id="261" r:id="rId11"/>
    <p:sldId id="272" r:id="rId12"/>
    <p:sldId id="274" r:id="rId13"/>
    <p:sldId id="267" r:id="rId14"/>
    <p:sldId id="271" r:id="rId15"/>
    <p:sldId id="266" r:id="rId16"/>
    <p:sldId id="269" r:id="rId17"/>
    <p:sldId id="265" r:id="rId18"/>
    <p:sldId id="262" r:id="rId19"/>
    <p:sldId id="263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規範" id="{AF1AA17C-BCB4-874A-9C52-C87F58B70EF1}">
          <p14:sldIdLst/>
        </p14:section>
        <p14:section name="示範" id="{8FC2453B-4468-2B47-BE3D-E88B547472AC}">
          <p14:sldIdLst>
            <p14:sldId id="256"/>
            <p14:sldId id="258"/>
            <p14:sldId id="268"/>
            <p14:sldId id="259"/>
            <p14:sldId id="270"/>
            <p14:sldId id="261"/>
            <p14:sldId id="272"/>
            <p14:sldId id="274"/>
            <p14:sldId id="267"/>
            <p14:sldId id="271"/>
            <p14:sldId id="266"/>
            <p14:sldId id="269"/>
            <p14:sldId id="265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12" autoAdjust="0"/>
    <p:restoredTop sz="81385" autoAdjust="0"/>
  </p:normalViewPr>
  <p:slideViewPr>
    <p:cSldViewPr snapToGrid="0" snapToObjects="1" showGuides="1">
      <p:cViewPr varScale="1">
        <p:scale>
          <a:sx n="86" d="100"/>
          <a:sy n="86" d="100"/>
        </p:scale>
        <p:origin x="1936" y="184"/>
      </p:cViewPr>
      <p:guideLst>
        <p:guide orient="horz" pos="2160"/>
        <p:guide pos="28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D0F53A-52FF-BE4D-8A83-304863818CCD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按一下以編輯母片文字樣式</a:t>
            </a:r>
            <a:endParaRPr kumimoji="1" lang="zh-CN" altLang="en-US"/>
          </a:p>
          <a:p>
            <a:pPr lvl="1"/>
            <a:r>
              <a:rPr kumimoji="1" lang="zh-CN" altLang="en-US"/>
              <a:t>第二層</a:t>
            </a:r>
            <a:endParaRPr kumimoji="1" lang="zh-CN" altLang="en-US"/>
          </a:p>
          <a:p>
            <a:pPr lvl="2"/>
            <a:r>
              <a:rPr kumimoji="1" lang="zh-CN" altLang="en-US"/>
              <a:t>第三層</a:t>
            </a:r>
            <a:endParaRPr kumimoji="1" lang="zh-CN" altLang="en-US"/>
          </a:p>
          <a:p>
            <a:pPr lvl="3"/>
            <a:r>
              <a:rPr kumimoji="1" lang="zh-CN" altLang="en-US"/>
              <a:t>第四層</a:t>
            </a:r>
            <a:endParaRPr kumimoji="1" lang="zh-CN" altLang="en-US"/>
          </a:p>
          <a:p>
            <a:pPr lvl="4"/>
            <a:r>
              <a:rPr kumimoji="1" lang="zh-CN" altLang="en-US"/>
              <a:t>第五層</a:t>
            </a:r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979C7D-8AFD-4E47-BDA4-D3CE4FBD916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79C7D-8AFD-4E47-BDA4-D3CE4FBD916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79C7D-8AFD-4E47-BDA4-D3CE4FBD916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79C7D-8AFD-4E47-BDA4-D3CE4FBD916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79C7D-8AFD-4E47-BDA4-D3CE4FBD916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79C7D-8AFD-4E47-BDA4-D3CE4FBD916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79C7D-8AFD-4E47-BDA4-D3CE4FBD916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79C7D-8AFD-4E47-BDA4-D3CE4FBD916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22" name="子標題 21"/>
          <p:cNvSpPr>
            <a:spLocks noGrp="1"/>
          </p:cNvSpPr>
          <p:nvPr>
            <p:ph type="subTitle" idx="1" hasCustomPrompt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305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按一下以編輯母片子標題樣式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292D-1797-49A5-8D2D-8D50C72EF3CC}" type="datetimeFigureOut">
              <a:rPr lang="en-US" smtClean="0"/>
            </a:fld>
            <a:endParaRPr lang="en-US"/>
          </a:p>
        </p:txBody>
      </p:sp>
      <p:sp>
        <p:nvSpPr>
          <p:cNvPr id="20" name="頁尾版面配置區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EACD6-A525-4B49-8009-7F09B4461B46}" type="slidenum">
              <a:rPr lang="en-US" smtClean="0"/>
            </a:fld>
            <a:endParaRPr lang="en-US"/>
          </a:p>
        </p:txBody>
      </p:sp>
      <p:sp>
        <p:nvSpPr>
          <p:cNvPr id="8" name="橢圓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橢圓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  <a:endParaRPr lang="zh-TW" altLang="en-US"/>
          </a:p>
          <a:p>
            <a:pPr lvl="1" eaLnBrk="1" latinLnBrk="0" hangingPunct="1"/>
            <a:r>
              <a:rPr lang="zh-TW" altLang="en-US"/>
              <a:t>第二層</a:t>
            </a:r>
            <a:endParaRPr lang="zh-TW" altLang="en-US"/>
          </a:p>
          <a:p>
            <a:pPr lvl="2" eaLnBrk="1" latinLnBrk="0" hangingPunct="1"/>
            <a:r>
              <a:rPr lang="zh-TW" altLang="en-US"/>
              <a:t>第三層</a:t>
            </a:r>
            <a:endParaRPr lang="zh-TW" altLang="en-US"/>
          </a:p>
          <a:p>
            <a:pPr lvl="3" eaLnBrk="1" latinLnBrk="0" hangingPunct="1"/>
            <a:r>
              <a:rPr lang="zh-TW" altLang="en-US"/>
              <a:t>第四層</a:t>
            </a:r>
            <a:endParaRPr lang="zh-TW" altLang="en-US"/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C8A2-C63C-49A4-89E9-2E4420D2ECA8}" type="datetimeFigureOut">
              <a:rPr lang="en-US" smtClean="0"/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E049-B585-4EE6-96C0-EEB30EAA14F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415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  <a:endParaRPr kumimoji="0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292D-1797-49A5-8D2D-8D50C72EF3CC}" type="datetimeFigureOut">
              <a:rPr lang="en-US" smtClean="0"/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C888B-D9F9-4E54-B722-F151A9F45E95}" type="slidenum">
              <a:rPr lang="en-US" smtClean="0"/>
            </a:fld>
            <a:endParaRPr lang="en-US"/>
          </a:p>
        </p:txBody>
      </p:sp>
      <p:sp>
        <p:nvSpPr>
          <p:cNvPr id="10" name="矩形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橢圓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橢圓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  <a:endParaRPr lang="zh-TW" altLang="en-US"/>
          </a:p>
          <a:p>
            <a:pPr lvl="1" eaLnBrk="1" latinLnBrk="0" hangingPunct="1"/>
            <a:r>
              <a:rPr lang="zh-TW" altLang="en-US"/>
              <a:t>第二層</a:t>
            </a:r>
            <a:endParaRPr lang="zh-TW" altLang="en-US"/>
          </a:p>
          <a:p>
            <a:pPr lvl="2" eaLnBrk="1" latinLnBrk="0" hangingPunct="1"/>
            <a:r>
              <a:rPr lang="zh-TW" altLang="en-US"/>
              <a:t>第三層</a:t>
            </a:r>
            <a:endParaRPr lang="zh-TW" altLang="en-US"/>
          </a:p>
          <a:p>
            <a:pPr lvl="3" eaLnBrk="1" latinLnBrk="0" hangingPunct="1"/>
            <a:r>
              <a:rPr lang="zh-TW" altLang="en-US"/>
              <a:t>第四層</a:t>
            </a:r>
            <a:endParaRPr lang="zh-TW" altLang="en-US"/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  <a:endParaRPr lang="zh-TW" altLang="en-US"/>
          </a:p>
          <a:p>
            <a:pPr lvl="1" eaLnBrk="1" latinLnBrk="0" hangingPunct="1"/>
            <a:r>
              <a:rPr lang="zh-TW" altLang="en-US"/>
              <a:t>第二層</a:t>
            </a:r>
            <a:endParaRPr lang="zh-TW" altLang="en-US"/>
          </a:p>
          <a:p>
            <a:pPr lvl="2" eaLnBrk="1" latinLnBrk="0" hangingPunct="1"/>
            <a:r>
              <a:rPr lang="zh-TW" altLang="en-US"/>
              <a:t>第三層</a:t>
            </a:r>
            <a:endParaRPr lang="zh-TW" altLang="en-US"/>
          </a:p>
          <a:p>
            <a:pPr lvl="3" eaLnBrk="1" latinLnBrk="0" hangingPunct="1"/>
            <a:r>
              <a:rPr lang="zh-TW" altLang="en-US"/>
              <a:t>第四層</a:t>
            </a:r>
            <a:endParaRPr lang="zh-TW" altLang="en-US"/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C8A2-C63C-49A4-89E9-2E4420D2ECA8}" type="datetimeFigureOut">
              <a:rPr lang="en-US" smtClean="0"/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E049-B585-4EE6-96C0-EEB30EAA14F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135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  <a:endParaRPr kumimoji="0"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135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  <a:endParaRPr kumimoji="0"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065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  <a:endParaRPr lang="zh-TW" altLang="en-US"/>
          </a:p>
          <a:p>
            <a:pPr lvl="1" eaLnBrk="1" latinLnBrk="0" hangingPunct="1"/>
            <a:r>
              <a:rPr lang="zh-TW" altLang="en-US"/>
              <a:t>第二層</a:t>
            </a:r>
            <a:endParaRPr lang="zh-TW" altLang="en-US"/>
          </a:p>
          <a:p>
            <a:pPr lvl="2" eaLnBrk="1" latinLnBrk="0" hangingPunct="1"/>
            <a:r>
              <a:rPr lang="zh-TW" altLang="en-US"/>
              <a:t>第三層</a:t>
            </a:r>
            <a:endParaRPr lang="zh-TW" altLang="en-US"/>
          </a:p>
          <a:p>
            <a:pPr lvl="3" eaLnBrk="1" latinLnBrk="0" hangingPunct="1"/>
            <a:r>
              <a:rPr lang="zh-TW" altLang="en-US"/>
              <a:t>第四層</a:t>
            </a:r>
            <a:endParaRPr lang="zh-TW" altLang="en-US"/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065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  <a:endParaRPr lang="zh-TW" altLang="en-US"/>
          </a:p>
          <a:p>
            <a:pPr lvl="1" eaLnBrk="1" latinLnBrk="0" hangingPunct="1"/>
            <a:r>
              <a:rPr lang="zh-TW" altLang="en-US"/>
              <a:t>第二層</a:t>
            </a:r>
            <a:endParaRPr lang="zh-TW" altLang="en-US"/>
          </a:p>
          <a:p>
            <a:pPr lvl="2" eaLnBrk="1" latinLnBrk="0" hangingPunct="1"/>
            <a:r>
              <a:rPr lang="zh-TW" altLang="en-US"/>
              <a:t>第三層</a:t>
            </a:r>
            <a:endParaRPr lang="zh-TW" altLang="en-US"/>
          </a:p>
          <a:p>
            <a:pPr lvl="3" eaLnBrk="1" latinLnBrk="0" hangingPunct="1"/>
            <a:r>
              <a:rPr lang="zh-TW" altLang="en-US"/>
              <a:t>第四層</a:t>
            </a:r>
            <a:endParaRPr lang="zh-TW" altLang="en-US"/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C8A2-C63C-49A4-89E9-2E4420D2ECA8}" type="datetimeFigureOut">
              <a:rPr lang="en-US" smtClean="0"/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E049-B585-4EE6-96C0-EEB30EAA14F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C8A2-C63C-49A4-89E9-2E4420D2ECA8}" type="datetimeFigureOut">
              <a:rPr lang="en-US" smtClean="0"/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E049-B585-4EE6-96C0-EEB30EAA14F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C8A2-C63C-49A4-89E9-2E4420D2ECA8}" type="datetimeFigureOut">
              <a:rPr lang="en-US" smtClean="0"/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E049-B585-4EE6-96C0-EEB30EAA14FD}" type="slidenum">
              <a:rPr lang="en-US" smtClean="0"/>
            </a:fld>
            <a:endParaRPr lang="en-US"/>
          </a:p>
        </p:txBody>
      </p:sp>
      <p:sp>
        <p:nvSpPr>
          <p:cNvPr id="6" name="矩形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  <a:endParaRPr kumimoji="0"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  <a:endParaRPr lang="zh-TW" altLang="en-US"/>
          </a:p>
          <a:p>
            <a:pPr lvl="1" eaLnBrk="1" latinLnBrk="0" hangingPunct="1"/>
            <a:r>
              <a:rPr lang="zh-TW" altLang="en-US"/>
              <a:t>第二層</a:t>
            </a:r>
            <a:endParaRPr lang="zh-TW" altLang="en-US"/>
          </a:p>
          <a:p>
            <a:pPr lvl="2" eaLnBrk="1" latinLnBrk="0" hangingPunct="1"/>
            <a:r>
              <a:rPr lang="zh-TW" altLang="en-US"/>
              <a:t>第三層</a:t>
            </a:r>
            <a:endParaRPr lang="zh-TW" altLang="en-US"/>
          </a:p>
          <a:p>
            <a:pPr lvl="3" eaLnBrk="1" latinLnBrk="0" hangingPunct="1"/>
            <a:r>
              <a:rPr lang="zh-TW" altLang="en-US"/>
              <a:t>第四層</a:t>
            </a:r>
            <a:endParaRPr lang="zh-TW" altLang="en-US"/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C8A2-C63C-49A4-89E9-2E4420D2ECA8}" type="datetimeFigureOut">
              <a:rPr lang="en-US" smtClean="0"/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E049-B585-4EE6-96C0-EEB30EAA14F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C8A2-C63C-49A4-89E9-2E4420D2ECA8}" type="datetimeFigureOut">
              <a:rPr lang="en-US" smtClean="0"/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E049-B585-4EE6-96C0-EEB30EAA14FD}" type="slidenum">
              <a:rPr lang="en-US" smtClean="0"/>
            </a:fld>
            <a:endParaRPr lang="en-US"/>
          </a:p>
        </p:txBody>
      </p:sp>
      <p:sp>
        <p:nvSpPr>
          <p:cNvPr id="8" name="矩形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210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 hasCustomPrompt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</a:lstStyle>
          <a:p>
            <a:pPr marL="0" algn="l" eaLnBrk="1" latinLnBrk="0" hangingPunct="1"/>
            <a:r>
              <a:rPr kumimoji="0" lang="zh-TW" altLang="en-US"/>
              <a:t>將圖片拖曳至版面配置區或按一下圖示以新增</a:t>
            </a:r>
            <a:endParaRPr kumimoji="0" lang="en-US" dirty="0"/>
          </a:p>
        </p:txBody>
      </p:sp>
      <p:sp>
        <p:nvSpPr>
          <p:cNvPr id="9" name="流程圖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流程圖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  <a:endParaRPr kumimoji="0"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  <a:endParaRPr lang="zh-TW" altLang="en-US"/>
          </a:p>
          <a:p>
            <a:pPr lvl="1" eaLnBrk="1" latinLnBrk="0" hangingPunct="1"/>
            <a:r>
              <a:rPr lang="zh-TW" altLang="en-US"/>
              <a:t>第二層</a:t>
            </a:r>
            <a:endParaRPr lang="zh-TW" altLang="en-US"/>
          </a:p>
          <a:p>
            <a:pPr lvl="2" eaLnBrk="1" latinLnBrk="0" hangingPunct="1"/>
            <a:r>
              <a:rPr lang="zh-TW" altLang="en-US"/>
              <a:t>第三層</a:t>
            </a:r>
            <a:endParaRPr lang="zh-TW" altLang="en-US"/>
          </a:p>
          <a:p>
            <a:pPr lvl="3" eaLnBrk="1" latinLnBrk="0" hangingPunct="1"/>
            <a:r>
              <a:rPr lang="zh-TW" altLang="en-US"/>
              <a:t>第四層</a:t>
            </a:r>
            <a:endParaRPr lang="zh-TW" altLang="en-US"/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C8A2-C63C-49A4-89E9-2E4420D2ECA8}" type="datetimeFigureOut">
              <a:rPr lang="en-US" smtClean="0"/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E049-B585-4EE6-96C0-EEB30EAA14F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標題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  <a:endParaRPr lang="zh-TW" altLang="en-US"/>
          </a:p>
          <a:p>
            <a:pPr lvl="1" eaLnBrk="1" latinLnBrk="0" hangingPunct="1"/>
            <a:r>
              <a:rPr lang="zh-TW" altLang="en-US"/>
              <a:t>第二層</a:t>
            </a:r>
            <a:endParaRPr lang="zh-TW" altLang="en-US"/>
          </a:p>
          <a:p>
            <a:pPr lvl="2" eaLnBrk="1" latinLnBrk="0" hangingPunct="1"/>
            <a:r>
              <a:rPr lang="zh-TW" altLang="en-US"/>
              <a:t>第三層</a:t>
            </a:r>
            <a:endParaRPr lang="zh-TW" altLang="en-US"/>
          </a:p>
          <a:p>
            <a:pPr lvl="3" eaLnBrk="1" latinLnBrk="0" hangingPunct="1"/>
            <a:r>
              <a:rPr lang="zh-TW" altLang="en-US"/>
              <a:t>第四層</a:t>
            </a:r>
            <a:endParaRPr lang="zh-TW" altLang="en-US"/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C8A2-C63C-49A4-89E9-2E4420D2ECA8}" type="datetimeFigureOut">
              <a:rPr lang="en-US" smtClean="0"/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E049-B585-4EE6-96C0-EEB30EAA14F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子標題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/>
              <a:t>按一下以編輯母片子標題樣式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子標題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/>
              <a:t>按一下以編輯母片子標題樣式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2CDC-5037-FF4C-B6FF-977C50787C48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F51-46BF-444A-ADB0-FDF560BA373D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2CDC-5037-FF4C-B6FF-977C50787C48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F51-46BF-444A-ADB0-FDF560BA373D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2CDC-5037-FF4C-B6FF-977C50787C48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F51-46BF-444A-ADB0-FDF560BA373D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2CDC-5037-FF4C-B6FF-977C50787C48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F51-46BF-444A-ADB0-FDF560BA373D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2CDC-5037-FF4C-B6FF-977C50787C48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F51-46BF-444A-ADB0-FDF560BA373D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2CDC-5037-FF4C-B6FF-977C50787C48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F51-46BF-444A-ADB0-FDF560BA373D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2CDC-5037-FF4C-B6FF-977C50787C48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F51-46BF-444A-ADB0-FDF560BA373D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2CDC-5037-FF4C-B6FF-977C50787C48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F51-46BF-444A-ADB0-FDF560BA373D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2CDC-5037-FF4C-B6FF-977C50787C48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F51-46BF-444A-ADB0-FDF560BA373D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2CDC-5037-FF4C-B6FF-977C50787C48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F51-46BF-444A-ADB0-FDF560BA373D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2CDC-5037-FF4C-B6FF-977C50787C48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F51-46BF-444A-ADB0-FDF560BA373D}" type="slidenum">
              <a:rPr kumimoji="1" lang="zh-TW" altLang="en-US" smtClean="0"/>
            </a:fld>
            <a:endParaRPr kumimoji="1"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圓形圖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橢圓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甜甜圈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標題版面配置區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文字版面配置區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  <a:endParaRPr kumimoji="0" lang="zh-TW" altLang="en-US"/>
          </a:p>
          <a:p>
            <a:pPr lvl="1" eaLnBrk="1" latinLnBrk="0" hangingPunct="1"/>
            <a:r>
              <a:rPr kumimoji="0" lang="zh-TW" altLang="en-US"/>
              <a:t>第二層</a:t>
            </a:r>
            <a:endParaRPr kumimoji="0" lang="zh-TW" altLang="en-US"/>
          </a:p>
          <a:p>
            <a:pPr lvl="2" eaLnBrk="1" latinLnBrk="0" hangingPunct="1"/>
            <a:r>
              <a:rPr kumimoji="0" lang="zh-TW" altLang="en-US"/>
              <a:t>第三層</a:t>
            </a:r>
            <a:endParaRPr kumimoji="0" lang="zh-TW" altLang="en-US"/>
          </a:p>
          <a:p>
            <a:pPr lvl="3" eaLnBrk="1" latinLnBrk="0" hangingPunct="1"/>
            <a:r>
              <a:rPr kumimoji="0" lang="zh-TW" altLang="en-US"/>
              <a:t>第四層</a:t>
            </a:r>
            <a:endParaRPr kumimoji="0" lang="zh-TW" altLang="en-US"/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24" name="日期版面配置區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fld id="{D85AC8A2-C63C-49A4-89E9-2E4420D2ECA8}" type="datetimeFigureOut">
              <a:rPr lang="en-US" smtClean="0"/>
            </a:fld>
            <a:endParaRPr lang="en-US"/>
          </a:p>
        </p:txBody>
      </p:sp>
      <p:sp>
        <p:nvSpPr>
          <p:cNvPr id="10" name="頁尾版面配置區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22" name="投影片編號版面配置區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fld id="{74C7E049-B585-4EE6-96C0-EEB30EAA14FD}" type="slidenum">
              <a:rPr lang="en-US" smtClean="0"/>
            </a:fld>
            <a:endParaRPr lang="en-US"/>
          </a:p>
        </p:txBody>
      </p:sp>
      <p:sp>
        <p:nvSpPr>
          <p:cNvPr id="15" name="矩形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65760" indent="-283210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 panose="05020102010507070707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490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 panose="020B06040305040B0204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7095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 panose="05020102010507070707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990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575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8945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425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C6A2D-FF8F-4448-8B34-767A6CFD03F0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2364A-CA5E-924F-B0D0-785F89BC5BD6}" type="slidenum">
              <a:rPr kumimoji="1" lang="zh-TW" altLang="en-US" smtClean="0"/>
            </a:fld>
            <a:endParaRPr kumimoji="1"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  <a:endParaRPr kumimoji="1" lang="zh-TW" altLang="en-US"/>
          </a:p>
          <a:p>
            <a:pPr lvl="1"/>
            <a:r>
              <a:rPr kumimoji="1" lang="zh-TW" altLang="en-US"/>
              <a:t>第二層</a:t>
            </a:r>
            <a:endParaRPr kumimoji="1" lang="zh-TW" altLang="en-US"/>
          </a:p>
          <a:p>
            <a:pPr lvl="2"/>
            <a:r>
              <a:rPr kumimoji="1" lang="zh-TW" altLang="en-US"/>
              <a:t>第三層</a:t>
            </a:r>
            <a:endParaRPr kumimoji="1" lang="zh-TW" altLang="en-US"/>
          </a:p>
          <a:p>
            <a:pPr lvl="3"/>
            <a:r>
              <a:rPr kumimoji="1" lang="zh-TW" altLang="en-US"/>
              <a:t>第四層</a:t>
            </a:r>
            <a:endParaRPr kumimoji="1" lang="zh-TW" altLang="en-US"/>
          </a:p>
          <a:p>
            <a:pPr lvl="4"/>
            <a:r>
              <a:rPr kumimoji="1" lang="zh-TW" altLang="en-US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42CDC-5037-FF4C-B6FF-977C50787C48}" type="datetimeFigureOut">
              <a:rPr kumimoji="1" lang="zh-TW" altLang="en-US" smtClean="0"/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A82F51-46BF-444A-ADB0-FDF560BA373D}" type="slidenum">
              <a:rPr kumimoji="1" lang="zh-TW" altLang="en-US" smtClean="0"/>
            </a:fld>
            <a:endParaRPr kumimoji="1"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432560" y="359897"/>
            <a:ext cx="7406640" cy="2727639"/>
          </a:xfrm>
        </p:spPr>
        <p:txBody>
          <a:bodyPr>
            <a:normAutofit/>
          </a:bodyPr>
          <a:lstStyle/>
          <a:p>
            <a:r>
              <a:rPr kumimoji="1" lang="zh-TW" altLang="en-US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項目中英文名稱：</a:t>
            </a:r>
            <a:br>
              <a:rPr kumimoji="1" lang="zh-TW" altLang="en-US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</a:br>
            <a:r>
              <a:rPr kumimoji="1" lang="zh-CN" altLang="en-US" sz="31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澳門國際物流綜合服務系統（</a:t>
            </a:r>
            <a:r>
              <a:rPr kumimoji="1" lang="en-US" altLang="zh-CN" sz="31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LotusSmartServicePlatform, LotusSSP</a:t>
            </a:r>
            <a:r>
              <a:rPr kumimoji="1" lang="zh-CN" altLang="en-US" sz="31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）</a:t>
            </a:r>
            <a:endParaRPr kumimoji="1" lang="zh-CN" altLang="en-US" sz="31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  <p:sp>
        <p:nvSpPr>
          <p:cNvPr id="3" name="子標題 2"/>
          <p:cNvSpPr>
            <a:spLocks noGrp="1"/>
          </p:cNvSpPr>
          <p:nvPr>
            <p:ph type="subTitle" idx="1"/>
          </p:nvPr>
        </p:nvSpPr>
        <p:spPr>
          <a:xfrm>
            <a:off x="1531089" y="4017908"/>
            <a:ext cx="7406640" cy="2270185"/>
          </a:xfrm>
        </p:spPr>
        <p:txBody>
          <a:bodyPr>
            <a:normAutofit/>
          </a:bodyPr>
          <a:lstStyle/>
          <a:p>
            <a:endParaRPr kumimoji="1" lang="en-US" altLang="zh-TW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r>
              <a:rPr kumimoji="1" lang="zh-TW" altLang="en-US" sz="24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申請實體</a:t>
            </a:r>
            <a:r>
              <a:rPr kumimoji="1" lang="zh-CN" altLang="en-US" sz="24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：</a:t>
            </a:r>
            <a:r>
              <a:rPr kumimoji="1" lang="zh-CN" altLang="en-US" sz="2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小城</a:t>
            </a:r>
            <a:r>
              <a:rPr kumimoji="1" lang="en-US" altLang="zh-CN" sz="2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S </a:t>
            </a:r>
            <a:r>
              <a:rPr kumimoji="1" lang="zh-CN" altLang="en-US" sz="2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一人有限公司</a:t>
            </a:r>
            <a:endParaRPr kumimoji="1" lang="zh-CN" altLang="en-US" sz="24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r>
              <a:rPr kumimoji="1" lang="zh-TW" altLang="en-US" sz="24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項目負責人</a:t>
            </a:r>
            <a:r>
              <a:rPr kumimoji="1" lang="zh-CN" altLang="en-US" sz="24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：</a:t>
            </a:r>
            <a:r>
              <a:rPr kumimoji="1" lang="zh-CN" altLang="en-US" sz="2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余</a:t>
            </a:r>
            <a:r>
              <a:rPr kumimoji="1" lang="zh-CN" altLang="en-US" sz="2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偉成</a:t>
            </a:r>
            <a:r>
              <a:rPr kumimoji="1" lang="en-US" altLang="zh-CN" sz="2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</a:t>
            </a:r>
            <a:r>
              <a:rPr kumimoji="1" lang="zh-CN" altLang="en-US" sz="2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總經理</a:t>
            </a:r>
            <a:endParaRPr kumimoji="1" lang="zh-CN" altLang="en-US" sz="24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r>
              <a:rPr kumimoji="1" lang="zh-TW" altLang="en-US" sz="24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合作機構名稱</a:t>
            </a:r>
            <a:r>
              <a:rPr kumimoji="1" lang="en-US" altLang="zh-TW" sz="24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: </a:t>
            </a:r>
            <a:r>
              <a:rPr kumimoji="1" lang="zh-CN" altLang="en-US" sz="2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浙江大學</a:t>
            </a:r>
            <a:endParaRPr kumimoji="1" lang="zh-CN" altLang="en-US" sz="24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r>
              <a:rPr kumimoji="1" lang="zh-TW" altLang="en-US" sz="24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合作機構項目負責人</a:t>
            </a:r>
            <a:r>
              <a:rPr kumimoji="1" lang="zh-CN" altLang="en-US" sz="24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：</a:t>
            </a:r>
            <a:r>
              <a:rPr kumimoji="1" lang="en-US" altLang="zh-CN" sz="2400" b="1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</a:t>
            </a:r>
            <a:r>
              <a:rPr kumimoji="1" lang="zh-CN" altLang="en-US" sz="2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王燦</a:t>
            </a:r>
            <a:r>
              <a:rPr kumimoji="1" lang="en-US" altLang="zh-CN" sz="2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</a:t>
            </a:r>
            <a:r>
              <a:rPr kumimoji="1" lang="zh-CN" altLang="en-US" sz="2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教授</a:t>
            </a:r>
            <a:endParaRPr kumimoji="1" lang="zh-CN" altLang="en-US" sz="24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研究目標</a:t>
            </a:r>
            <a:r>
              <a:rPr lang="en-US" altLang="zh-TW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</a:t>
            </a:r>
            <a:endParaRPr kumimoji="1" lang="zh-TW" altLang="en-US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lstStyle/>
          <a:p>
            <a:pPr marL="82550" indent="0">
              <a:lnSpc>
                <a:spcPct val="150000"/>
              </a:lnSpc>
              <a:buNone/>
            </a:pPr>
            <a:r>
              <a:rPr lang="zh-TW" altLang="en-US" sz="28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一、配對需求及成果名稱</a:t>
            </a:r>
            <a:endParaRPr lang="zh-TW" altLang="en-US" sz="28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澳門國際物流綜合服務系統（LotusSSP）</a:t>
            </a:r>
            <a:endParaRPr lang="en-US" altLang="zh-TW" sz="2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algn="l">
              <a:lnSpc>
                <a:spcPct val="150000"/>
              </a:lnSpc>
              <a:buNone/>
            </a:pPr>
            <a:r>
              <a:rPr lang="zh-TW" altLang="en-US" sz="28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二、研究目標</a:t>
            </a:r>
            <a:endParaRPr lang="zh-TW" altLang="en-US" sz="28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sz="2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以客戶運輸需求為核心，構建「需求 - 方案」智能匹配平臺，實現「價格最優、速度最快、運輸效率最高」的精準對接；聚焦 3-5 個典型物流場景（如跨境電商小件運輸），依託現有專線、單證申報體系完成方案落地驗證。</a:t>
            </a:r>
            <a:endParaRPr kumimoji="1" lang="zh-CN" altLang="en-US" sz="24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algn="l">
              <a:lnSpc>
                <a:spcPct val="150000"/>
              </a:lnSpc>
              <a:buNone/>
            </a:pPr>
            <a:r>
              <a:rPr lang="zh-TW" altLang="en-US" sz="28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三、項目所要達至的預期目標</a:t>
            </a:r>
            <a:endParaRPr lang="zh-TW" altLang="en-US" sz="28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sz="2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結題時技術成熟度達到 TRL7，形成可直接產業化的智能物流服務系統。</a:t>
            </a:r>
            <a:endParaRPr kumimoji="1" lang="zh-CN" altLang="en-US" sz="24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effectLst/>
                <a:latin typeface="Songti TC Regular" panose="02010600040101010101" charset="-122"/>
                <a:ea typeface="Songti TC Regular" panose="02010600040101010101" charset="-122"/>
              </a:rPr>
              <a:t>企業概況</a:t>
            </a:r>
            <a:endParaRPr lang="zh-TW" altLang="en-US" dirty="0">
              <a:effectLst/>
              <a:latin typeface="Songti TC Regular" panose="02010600040101010101" charset="-122"/>
              <a:ea typeface="Songti TC Regular" panose="02010600040101010101" charset="-122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82550" indent="0">
              <a:lnSpc>
                <a:spcPct val="150000"/>
              </a:lnSpc>
              <a:buNone/>
            </a:pPr>
            <a:r>
              <a:rPr kumimoji="1" lang="zh-TW" altLang="en-US" sz="18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一、管理團隊：</a:t>
            </a:r>
            <a:endParaRPr kumimoji="1" lang="zh-TW" altLang="en-US" sz="1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以余偉成總經理為核心，具備多年跨境物流項目研發與運營經驗，曾主導 / 參與多個 FDCT 資助項目且順利結題，團隊兼具技術研發與市場落地能力。</a:t>
            </a:r>
            <a:endParaRPr kumimoji="1" lang="zh-CN" altLang="en-US" sz="44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kumimoji="1" lang="zh-TW" altLang="en-US" sz="18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二、技術積累：</a:t>
            </a:r>
            <a:endParaRPr kumimoji="1" lang="zh-TW" altLang="en-US" sz="18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深耕物流數碼化領域，積累了海量交易、物流及通關數據，具備 SaaS 平臺開發、高並發數據處理、物聯網設備管理經驗。</a:t>
            </a:r>
            <a:endParaRPr kumimoji="1" lang="zh-TW" altLang="en-US" sz="44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kumimoji="1" lang="zh-TW" altLang="en-US" sz="18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三、基礎條件：</a:t>
            </a:r>
            <a:endParaRPr kumimoji="1" lang="zh-TW" altLang="en-US" sz="18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擁有辦公場地、測試環境及基礎辦公設備，可提供系統研發、測試所需的基礎設施；與澳門本地物流企業建立資源對接管道，具備真實場景驗證條件。</a:t>
            </a:r>
            <a:endParaRPr kumimoji="1" lang="zh-TW" altLang="en-US" sz="44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algn="l">
              <a:lnSpc>
                <a:spcPct val="150000"/>
              </a:lnSpc>
              <a:buNone/>
            </a:pPr>
            <a:r>
              <a:rPr kumimoji="1" lang="zh-TW" altLang="en-US" sz="18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四、資金狀況：</a:t>
            </a:r>
            <a:endParaRPr kumimoji="1" lang="zh-TW" altLang="en-US" sz="18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項目總預算 629,500 澳門元，其中自行配套 379,500 澳門元，資金籌措方案可信，與項目實施計劃匹配。</a:t>
            </a:r>
            <a:endParaRPr kumimoji="1"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研究內容</a:t>
            </a:r>
            <a:r>
              <a:rPr lang="zh-TW" altLang="en-US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與方法</a:t>
            </a:r>
            <a:r>
              <a:rPr lang="en-US" altLang="zh-TW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</a:t>
            </a:r>
            <a:endParaRPr lang="zh-TW" altLang="en-US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35735" y="1447800"/>
            <a:ext cx="7498080" cy="5240655"/>
          </a:xfrm>
        </p:spPr>
        <p:txBody>
          <a:bodyPr>
            <a:normAutofit fontScale="35000"/>
          </a:bodyPr>
          <a:lstStyle/>
          <a:p>
            <a:pPr marL="82550" indent="0" algn="l">
              <a:lnSpc>
                <a:spcPct val="150000"/>
              </a:lnSpc>
              <a:buNone/>
            </a:pPr>
            <a:r>
              <a:rPr lang="zh-TW" altLang="en-US" sz="51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一、總體定位</a:t>
            </a:r>
            <a:endParaRPr kumimoji="1" lang="zh-CN" altLang="en-US" sz="51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sz="4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以客戶需求為核心，整合現有物流專線、電子報關資源，通過技術創新打通全流程，實現技術成熟度從</a:t>
            </a:r>
            <a:r>
              <a:rPr kumimoji="1" lang="en-US" altLang="zh-CN" sz="4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TRL4 </a:t>
            </a:r>
            <a:r>
              <a:rPr kumimoji="1" lang="zh-CN" altLang="en-US" sz="4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升級至</a:t>
            </a:r>
            <a:r>
              <a:rPr kumimoji="1" lang="en-US" altLang="zh-CN" sz="4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TRL7</a:t>
            </a:r>
            <a:r>
              <a:rPr kumimoji="1" lang="zh-CN" altLang="en-US" sz="4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，形成可產業化智能物流解決方案。</a:t>
            </a:r>
            <a:endParaRPr kumimoji="1" lang="zh-CN" altLang="en-US" sz="4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algn="l">
              <a:lnSpc>
                <a:spcPct val="150000"/>
              </a:lnSpc>
              <a:buNone/>
            </a:pPr>
            <a:r>
              <a:rPr lang="zh-TW" altLang="en-US" sz="51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二、核心工作內容</a:t>
            </a:r>
            <a:endParaRPr lang="zh-TW" altLang="en-US" sz="51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sz="4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研發需求分類匹配、體系協同兩大核心模塊；</a:t>
            </a:r>
            <a:endParaRPr kumimoji="1" lang="zh-CN" altLang="en-US" sz="4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sz="4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適配</a:t>
            </a:r>
            <a:r>
              <a:rPr kumimoji="1" lang="en-US" altLang="zh-CN" sz="4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3-5 </a:t>
            </a:r>
            <a:r>
              <a:rPr kumimoji="1" lang="zh-CN" altLang="en-US" sz="4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個高頻物流場景，制定「運輸</a:t>
            </a:r>
            <a:r>
              <a:rPr kumimoji="1" lang="en-US" altLang="zh-CN" sz="4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+ </a:t>
            </a:r>
            <a:r>
              <a:rPr kumimoji="1" lang="zh-CN" altLang="en-US" sz="4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單證」組合規則；</a:t>
            </a:r>
            <a:endParaRPr kumimoji="1" lang="zh-CN" altLang="en-US" sz="4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sz="4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聯合浙大攻關核心技術，完成</a:t>
            </a:r>
            <a:r>
              <a:rPr kumimoji="1" lang="en-US" altLang="zh-CN" sz="4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200 + </a:t>
            </a:r>
            <a:r>
              <a:rPr kumimoji="1" lang="zh-CN" altLang="en-US" sz="4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組需求樣本訓練；</a:t>
            </a:r>
            <a:endParaRPr kumimoji="1" lang="zh-CN" altLang="en-US" sz="4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sz="4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開展小範圍示範應用，驗證系統落地性。</a:t>
            </a:r>
            <a:endParaRPr kumimoji="1" lang="zh-CN" altLang="en-US" sz="4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 algn="l">
              <a:lnSpc>
                <a:spcPct val="150000"/>
              </a:lnSpc>
              <a:buNone/>
            </a:pPr>
            <a:r>
              <a:rPr lang="zh-TW" altLang="en-US" sz="51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三、研究方法</a:t>
            </a:r>
            <a:endParaRPr lang="zh-TW" altLang="en-US" sz="51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sz="4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基於改進決策樹</a:t>
            </a:r>
            <a:r>
              <a:rPr kumimoji="1" lang="en-US" altLang="zh-CN" sz="4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+ </a:t>
            </a:r>
            <a:r>
              <a:rPr kumimoji="1" lang="zh-CN" altLang="en-US" sz="4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注意力機制訓練需求分類演算法；</a:t>
            </a:r>
            <a:endParaRPr kumimoji="1" lang="zh-CN" altLang="en-US" sz="4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sz="4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設計場景化「需求</a:t>
            </a:r>
            <a:r>
              <a:rPr kumimoji="1" lang="en-US" altLang="zh-CN" sz="4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- </a:t>
            </a:r>
            <a:r>
              <a:rPr kumimoji="1" lang="zh-CN" altLang="en-US" sz="4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資源」映射規則；</a:t>
            </a:r>
            <a:endParaRPr kumimoji="1" lang="zh-CN" altLang="en-US" sz="4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sz="4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介面聯調打通現有體系，試點驗證優化。</a:t>
            </a:r>
            <a:endParaRPr kumimoji="1" lang="zh-CN" altLang="en-US" sz="4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研究內容</a:t>
            </a:r>
            <a:r>
              <a:rPr lang="zh-TW" altLang="en-US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與方法</a:t>
            </a:r>
            <a:r>
              <a:rPr lang="en-US" altLang="zh-TW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</a:t>
            </a:r>
            <a:endParaRPr lang="zh-TW" altLang="en-US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45000"/>
          </a:bodyPr>
          <a:lstStyle/>
          <a:p>
            <a:pPr marL="82550" indent="0" algn="l">
              <a:lnSpc>
                <a:spcPct val="150000"/>
              </a:lnSpc>
              <a:buNone/>
            </a:pPr>
            <a:r>
              <a:rPr lang="zh-TW" altLang="en-US" sz="4400" b="1" dirty="0">
                <a:latin typeface="Songti TC Bold" panose="02010600040101010101" charset="-122"/>
                <a:ea typeface="Songti TC Bold" panose="02010600040101010101" charset="-122"/>
                <a:cs typeface="Songti TC Bold" panose="02010600040101010101" charset="-122"/>
              </a:rPr>
              <a:t>四、技術路線（12 個月）</a:t>
            </a:r>
            <a:endParaRPr lang="zh-TW" altLang="en-US" sz="4400" b="1" dirty="0">
              <a:latin typeface="Songti TC Bold" panose="02010600040101010101" charset="-122"/>
              <a:ea typeface="Songti TC Bold" panose="02010600040101010101" charset="-122"/>
              <a:cs typeface="Songti TC Bold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kumimoji="1" lang="en-US" altLang="zh-CN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2025.10-12</a:t>
            </a:r>
            <a:r>
              <a:rPr kumimoji="1" lang="zh-CN" altLang="en-US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：需求調研，搭建規則庫與技術方案；</a:t>
            </a:r>
            <a:endParaRPr kumimoji="1" lang="zh-CN" altLang="en-US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kumimoji="1" lang="en-US" altLang="zh-CN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2026.1-3</a:t>
            </a:r>
            <a:r>
              <a:rPr kumimoji="1" lang="zh-CN" altLang="en-US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：核心模塊原型開發；</a:t>
            </a:r>
            <a:endParaRPr kumimoji="1" lang="zh-CN" altLang="en-US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kumimoji="1" lang="en-US" altLang="zh-CN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2026.4-6</a:t>
            </a:r>
            <a:r>
              <a:rPr kumimoji="1" lang="zh-CN" altLang="en-US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：演算法優化與模塊聯調；</a:t>
            </a:r>
            <a:endParaRPr kumimoji="1" lang="zh-CN" altLang="en-US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kumimoji="1" lang="en-US" altLang="zh-CN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2026.7-8</a:t>
            </a:r>
            <a:r>
              <a:rPr kumimoji="1" lang="zh-CN" altLang="en-US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：全系統測試與相容優化；</a:t>
            </a:r>
            <a:endParaRPr kumimoji="1" lang="zh-CN" altLang="en-US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kumimoji="1" lang="en-US" altLang="zh-CN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2026.9</a:t>
            </a:r>
            <a:r>
              <a:rPr kumimoji="1" lang="zh-CN" altLang="en-US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：企業示範應用。</a:t>
            </a:r>
            <a:endParaRPr kumimoji="1" lang="zh-CN" altLang="en-US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algn="l">
              <a:lnSpc>
                <a:spcPct val="150000"/>
              </a:lnSpc>
              <a:buNone/>
            </a:pPr>
            <a:r>
              <a:rPr lang="zh-TW" altLang="en-US" sz="4400" b="1" dirty="0">
                <a:latin typeface="Songti TC Bold" panose="02010600040101010101" charset="-122"/>
                <a:ea typeface="Songti TC Bold" panose="02010600040101010101" charset="-122"/>
                <a:cs typeface="Songti TC Bold" panose="02010600040101010101" charset="-122"/>
              </a:rPr>
              <a:t>五、擬解決關鍵問題</a:t>
            </a:r>
            <a:endParaRPr lang="zh-TW" altLang="en-US" sz="4400" b="1" dirty="0">
              <a:latin typeface="Songti TC Bold" panose="02010600040101010101" charset="-122"/>
              <a:ea typeface="Songti TC Bold" panose="02010600040101010101" charset="-122"/>
              <a:cs typeface="Songti TC Bold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需求與資源匹配效率低：構建直接匹配演算法；</a:t>
            </a:r>
            <a:endParaRPr kumimoji="1" lang="zh-CN" altLang="en-US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缺乏多維度方案：生成</a:t>
            </a:r>
            <a:r>
              <a:rPr kumimoji="1" lang="en-US" altLang="zh-CN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2-3 </a:t>
            </a:r>
            <a:r>
              <a:rPr kumimoji="1" lang="zh-CN" altLang="en-US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套備選方案；</a:t>
            </a:r>
            <a:endParaRPr kumimoji="1" lang="zh-CN" altLang="en-US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現有體系協同不足：打通介面實現自動觸發；</a:t>
            </a:r>
            <a:endParaRPr kumimoji="1" lang="zh-CN" altLang="en-US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需求分類不准：通過樣本訓練提升準確率。</a:t>
            </a:r>
            <a:r>
              <a:rPr kumimoji="1" lang="zh-TW" altLang="en-US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</a:t>
            </a:r>
            <a:endParaRPr kumimoji="1" lang="zh-TW" altLang="en-US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800000"/>
                </a:solidFill>
                <a:effectLst/>
                <a:latin typeface="Songti TC Regular" panose="02010600040101010101" charset="-122"/>
                <a:ea typeface="Songti TC Regular" panose="02010600040101010101" charset="-122"/>
                <a:cs typeface="+mn-cs"/>
              </a:rPr>
              <a:t>本項目的創新性</a:t>
            </a:r>
            <a:endParaRPr lang="zh-CN" altLang="en-US" dirty="0">
              <a:solidFill>
                <a:srgbClr val="800000"/>
              </a:solidFill>
              <a:effectLst/>
              <a:latin typeface="Songti TC Regular" panose="02010600040101010101" charset="-122"/>
              <a:ea typeface="Songti TC Regular" panose="02010600040101010101" charset="-122"/>
              <a:cs typeface="+mn-cs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82550" indent="0" algn="l">
              <a:lnSpc>
                <a:spcPct val="150000"/>
              </a:lnSpc>
              <a:buNone/>
            </a:pPr>
            <a:r>
              <a:rPr lang="zh-TW" altLang="en-US" sz="20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一、對比國內外最新技術</a:t>
            </a:r>
            <a:endParaRPr lang="zh-TW" altLang="en-US" sz="40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國外：側重全球化全鏈路調度，技術成熟但成本高，難適配澳門這類微型經濟體，跨境規則協同缺失。</a:t>
            </a:r>
            <a:endParaRPr kumimoji="1"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國內：聚焦国内物流規模化場景，重資產投入多，對中小企業門檻高，跨境合規適配不足。</a:t>
            </a:r>
            <a:endParaRPr kumimoji="1" lang="zh-CN" altLang="en-US" sz="1600" dirty="0">
              <a:solidFill>
                <a:schemeClr val="tx1"/>
              </a:solidFill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lang="zh-TW" altLang="en-US" sz="20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二、本項目優勢與不足</a:t>
            </a:r>
            <a:endParaRPr kumimoji="1" lang="zh-CN" altLang="en-US" sz="20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優勢：輕資產複用現有資源，成本低；</a:t>
            </a:r>
            <a:r>
              <a:rPr kumimoji="1"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專注跨境規則與語義對接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，契合澳門定位；操作簡便，中小企業易上手。</a:t>
            </a:r>
            <a:endParaRPr kumimoji="1"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不足：全球化調度能力弱於國外頂級系統；覆蓋場景不如國內大平臺全面，跨區域擴展需額外適配。</a:t>
            </a:r>
            <a:endParaRPr kumimoji="1"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800000"/>
                </a:solidFill>
                <a:effectLst/>
                <a:latin typeface="Songti TC Regular" panose="02010600040101010101" charset="-122"/>
                <a:ea typeface="Songti TC Regular" panose="02010600040101010101" charset="-122"/>
                <a:cs typeface="+mn-cs"/>
              </a:rPr>
              <a:t>本項目的創新性</a:t>
            </a:r>
            <a:endParaRPr lang="zh-CN" altLang="en-US" dirty="0">
              <a:solidFill>
                <a:srgbClr val="800000"/>
              </a:solidFill>
              <a:effectLst/>
              <a:latin typeface="Songti TC Regular" panose="02010600040101010101" charset="-122"/>
              <a:ea typeface="Songti TC Regular" panose="02010600040101010101" charset="-122"/>
              <a:cs typeface="+mn-cs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82550" indent="0">
              <a:lnSpc>
                <a:spcPct val="150000"/>
              </a:lnSpc>
              <a:buNone/>
            </a:pPr>
            <a:r>
              <a:rPr lang="zh-TW" altLang="en-US" sz="20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三、核心創新性</a:t>
            </a:r>
            <a:endParaRPr lang="zh-TW" altLang="en-US" sz="20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技術端突破</a:t>
            </a:r>
            <a:r>
              <a:rPr kumimoji="1"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：</a:t>
            </a:r>
            <a:endParaRPr kumimoji="1" lang="en-US" altLang="zh-CN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輕量級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AI 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分類算法：改進決策樹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+ 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注意力機制融合模型，無需復雜數據輸入，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3 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步完成需求標引，适配中小企業操作場景；</a:t>
            </a:r>
            <a:endParaRPr kumimoji="1" lang="zh-CN" altLang="en-US" sz="1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跨體系協同技術：基於區塊鏈與實時接口交互，打通物流專線與電子報關系統，實現需求確認後自動觸發服務，流程閉環效率提升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40%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；</a:t>
            </a:r>
            <a:endParaRPr kumimoji="1" lang="zh-CN" altLang="en-US" sz="1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語義网关技術：基於多語言大模型微調，實現多種语言法律文本精准轉換，解決跨境合規語言痛點。</a:t>
            </a:r>
            <a:endParaRPr kumimoji="1" lang="zh-CN" altLang="en-US" sz="1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在大模型演算法層面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：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自適應探索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- 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利用機制創新在多臂老虎機演算法框架下，創新引入動態權重調整的探索策略，可根據環境回饋即時優化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“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探索新策略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” 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與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“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利用已知最優策略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” 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的平衡。相較於傳統靜態策略，在複雜動態場景（如多智能體交互、非平穩獎勵環境）中收斂效率提升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30% 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以上，解決了傳統演算法在環境變化時的魯棒性不足問題。</a:t>
            </a:r>
            <a:endParaRPr kumimoji="1" lang="zh-CN" altLang="en-US" sz="1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網格數據輕量化表徵學習創新針對高維網格狀輸入（如遊戲地圖、物理場景空間網格），設計稀疏注意力與分層特徵提取融合架構，在保留空間關係表徵能力的同時，將計算複雜度從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O(n 2 )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降至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O(nlogn)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。使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AI 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模型能在邊緣設備上高效處理大規模網格數據，為即時決策類任務（自主導航、工業監測等）提供輕量化解決方案。</a:t>
            </a:r>
            <a:endParaRPr kumimoji="1" lang="zh-CN" altLang="en-US" sz="1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決策與表徵端到端協同創新打破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“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表徵學習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- 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決策演算法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” 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分離式設計，將決策邏輯與網格表徵網路深度耦合，通過聯合訓練實現特徵提取與策略優化雙向賦能。該一體化架構使感知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- 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決策鏈路端到端性能提升</a:t>
            </a:r>
            <a:r>
              <a:rPr kumimoji="1" lang="en-US" altLang="zh-CN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25%</a:t>
            </a:r>
            <a:r>
              <a:rPr kumimoji="1" lang="zh-CN" altLang="en-US" sz="10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，跨場景泛化（如模擬環境向真實場景遷移）時策略適應性更強，減少對標注數據和人工調參的依賴。</a:t>
            </a:r>
            <a:endParaRPr kumimoji="1" lang="zh-CN" altLang="en-US" sz="1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endParaRPr kumimoji="1" lang="zh-CN" altLang="en-US" sz="1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0225" y="1099185"/>
            <a:ext cx="3533775" cy="13785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565" y="1295400"/>
            <a:ext cx="1955800" cy="986155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800000"/>
                </a:solidFill>
                <a:effectLst/>
                <a:latin typeface="Songti TC Regular" panose="02010600040101010101" charset="-122"/>
                <a:ea typeface="Songti TC Regular" panose="02010600040101010101" charset="-122"/>
                <a:cs typeface="+mn-cs"/>
              </a:rPr>
              <a:t>本項目的創新性</a:t>
            </a:r>
            <a:endParaRPr lang="zh-CN" altLang="en-US" dirty="0">
              <a:solidFill>
                <a:srgbClr val="800000"/>
              </a:solidFill>
              <a:effectLst/>
              <a:latin typeface="Songti TC Regular" panose="02010600040101010101" charset="-122"/>
              <a:ea typeface="Songti TC Regular" panose="02010600040101010101" charset="-122"/>
              <a:cs typeface="+mn-cs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82550" indent="0">
              <a:lnSpc>
                <a:spcPct val="150000"/>
              </a:lnSpc>
              <a:buNone/>
            </a:pPr>
            <a:r>
              <a:rPr lang="zh-TW" altLang="en-US" sz="20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三、核心創新性</a:t>
            </a:r>
            <a:endParaRPr lang="zh-TW" altLang="en-US" sz="20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微型經濟體定制：首推輕量化解法，不依賴重資產，精准匹配澳門資源稟賦；</a:t>
            </a:r>
            <a:endParaRPr kumimoji="1"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跨境場景突破：跨境物流</a:t>
            </a:r>
            <a:r>
              <a:rPr kumimoji="1"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規則</a:t>
            </a:r>
            <a:r>
              <a:rPr kumimoji="1"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+ 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物流服務直連，解決獨特語言與合規痛點；</a:t>
            </a:r>
            <a:endParaRPr kumimoji="1"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需求導向創新：不同於傳統資源導向，直接匹配</a:t>
            </a:r>
            <a:r>
              <a:rPr kumimoji="1"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“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價格</a:t>
            </a:r>
            <a:r>
              <a:rPr kumimoji="1"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/ 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速度</a:t>
            </a:r>
            <a:r>
              <a:rPr kumimoji="1"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/ 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效率</a:t>
            </a:r>
            <a:r>
              <a:rPr kumimoji="1" lang="en-US" altLang="zh-CN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” 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需求，響應更精准。</a:t>
            </a:r>
            <a:endParaRPr kumimoji="1"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endParaRPr kumimoji="1"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>
                <a:latin typeface="Songti TC Regular" panose="02010600040101010101" charset="-122"/>
                <a:ea typeface="Songti TC Regular" panose="02010600040101010101" charset="-122"/>
              </a:rPr>
              <a:t>可產業化的成果</a:t>
            </a:r>
            <a:endParaRPr lang="ja-JP" altLang="en-US" dirty="0">
              <a:latin typeface="Songti TC Regular" panose="02010600040101010101" charset="-122"/>
              <a:ea typeface="Songti TC Regular" panose="02010600040101010101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5000"/>
          </a:bodyPr>
          <a:lstStyle/>
          <a:p>
            <a:pPr marL="82550" indent="0">
              <a:lnSpc>
                <a:spcPct val="150000"/>
              </a:lnSpc>
              <a:buNone/>
            </a:pPr>
            <a:r>
              <a:rPr lang="zh-TW" altLang="en-US" sz="57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一、結題時預計可產業化成果</a:t>
            </a:r>
            <a:endParaRPr kumimoji="1" lang="zh-CN" altLang="en-US" sz="57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457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2 </a:t>
            </a:r>
            <a:r>
              <a:rPr kumimoji="1" lang="zh-CN" altLang="en-US" sz="457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項軟件著作權（需求智能分類、物流體系協同調度系統）；</a:t>
            </a:r>
            <a:endParaRPr kumimoji="1" lang="zh-CN" altLang="en-US" sz="457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457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可直接部署的智能物流服務平臺（</a:t>
            </a:r>
            <a:r>
              <a:rPr kumimoji="1" lang="en-US" altLang="zh-CN" sz="457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LotusSSP</a:t>
            </a:r>
            <a:r>
              <a:rPr kumimoji="1" lang="zh-CN" altLang="en-US" sz="457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）；</a:t>
            </a:r>
            <a:endParaRPr kumimoji="1" lang="zh-CN" altLang="en-US" sz="457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457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核心技術指標達標：需求分類準確率</a:t>
            </a:r>
            <a:r>
              <a:rPr kumimoji="1" lang="en-US" altLang="zh-CN" sz="457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≥95%</a:t>
            </a:r>
            <a:r>
              <a:rPr kumimoji="1" lang="zh-CN" altLang="en-US" sz="457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、方案生成</a:t>
            </a:r>
            <a:r>
              <a:rPr kumimoji="1" lang="en-US" altLang="zh-CN" sz="457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≤5 </a:t>
            </a:r>
            <a:r>
              <a:rPr kumimoji="1" lang="zh-CN" altLang="en-US" sz="457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分鐘、體系適配成功率</a:t>
            </a:r>
            <a:r>
              <a:rPr kumimoji="1" lang="en-US" altLang="zh-CN" sz="457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100%</a:t>
            </a:r>
            <a:r>
              <a:rPr kumimoji="1" lang="zh-CN" altLang="en-US" sz="457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。</a:t>
            </a:r>
            <a:endParaRPr kumimoji="1" lang="zh-CN" altLang="en-US" sz="457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>
              <a:lnSpc>
                <a:spcPct val="150000"/>
              </a:lnSpc>
              <a:buNone/>
            </a:pPr>
            <a:r>
              <a:rPr lang="zh-TW" altLang="en-US" sz="57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二、成果帶來的改變及影響</a:t>
            </a:r>
            <a:endParaRPr kumimoji="1" lang="zh-CN" altLang="en-US" sz="57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457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改變：中小企業物流成本降低、跨境物流效率提升</a:t>
            </a:r>
            <a:r>
              <a:rPr kumimoji="1" lang="en-US" altLang="zh-CN" sz="457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</a:t>
            </a:r>
            <a:r>
              <a:rPr kumimoji="1" lang="zh-CN" altLang="en-US" sz="457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流通更順暢；</a:t>
            </a:r>
            <a:endParaRPr kumimoji="1" lang="zh-CN" altLang="en-US" sz="457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457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度量：成本降低</a:t>
            </a:r>
            <a:r>
              <a:rPr kumimoji="1" lang="en-US" altLang="zh-CN" sz="457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20-25%</a:t>
            </a:r>
            <a:r>
              <a:rPr kumimoji="1" lang="zh-CN" altLang="en-US" sz="457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、資源利用率提升</a:t>
            </a:r>
            <a:r>
              <a:rPr kumimoji="1" lang="en-US" altLang="zh-CN" sz="457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30%</a:t>
            </a:r>
            <a:r>
              <a:rPr kumimoji="1" lang="zh-CN" altLang="en-US" sz="457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、通關流程縮短</a:t>
            </a:r>
            <a:r>
              <a:rPr kumimoji="1" lang="en-US" altLang="zh-CN" sz="457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30%</a:t>
            </a:r>
            <a:r>
              <a:rPr kumimoji="1" lang="zh-CN" altLang="en-US" sz="457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；</a:t>
            </a:r>
            <a:endParaRPr kumimoji="1" lang="zh-CN" altLang="en-US" sz="457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457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時間：</a:t>
            </a:r>
            <a:r>
              <a:rPr kumimoji="1" lang="en-US" altLang="zh-CN" sz="457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12 </a:t>
            </a:r>
            <a:r>
              <a:rPr kumimoji="1" lang="zh-CN" altLang="en-US" sz="457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個月完成研發結題，</a:t>
            </a:r>
            <a:r>
              <a:rPr kumimoji="1" lang="en-US" altLang="zh-CN" sz="457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3 </a:t>
            </a:r>
            <a:r>
              <a:rPr kumimoji="1" lang="zh-CN" altLang="en-US" sz="457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年內實現大規模產業化應用。</a:t>
            </a:r>
            <a:endParaRPr kumimoji="1" lang="zh-CN" altLang="en-US" sz="457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>
                <a:latin typeface="Songti TC Regular" panose="02010600040101010101" charset="-122"/>
                <a:ea typeface="Songti TC Regular" panose="02010600040101010101" charset="-122"/>
              </a:rPr>
              <a:t>可產業化的成果</a:t>
            </a:r>
            <a:endParaRPr lang="ja-JP" altLang="en-US" dirty="0">
              <a:latin typeface="Songti TC Regular" panose="02010600040101010101" charset="-122"/>
              <a:ea typeface="Songti TC Regular" panose="02010600040101010101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 marL="82550" indent="0" algn="l">
              <a:lnSpc>
                <a:spcPct val="150000"/>
              </a:lnSpc>
              <a:buNone/>
            </a:pPr>
            <a:r>
              <a:rPr lang="zh-TW" altLang="en-US" sz="27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三、檢查與進展衡量</a:t>
            </a:r>
            <a:endParaRPr lang="zh-TW" altLang="en-US" sz="3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8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中期檢查（第</a:t>
            </a:r>
            <a:r>
              <a:rPr kumimoji="1" lang="en-US" altLang="zh-CN" sz="18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3 </a:t>
            </a:r>
            <a:r>
              <a:rPr kumimoji="1" lang="zh-CN" altLang="en-US" sz="18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個月）：完成核心模塊原型開發，演算法初步驗證；</a:t>
            </a:r>
            <a:endParaRPr kumimoji="1" lang="zh-CN" altLang="en-US" sz="1800" dirty="0">
              <a:solidFill>
                <a:schemeClr val="tx1"/>
              </a:solidFill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8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終期檢查（第</a:t>
            </a:r>
            <a:r>
              <a:rPr kumimoji="1" lang="en-US" altLang="zh-CN" sz="18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12 </a:t>
            </a:r>
            <a:r>
              <a:rPr kumimoji="1" lang="zh-CN" altLang="en-US" sz="18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個月）：通過对几家企業示範應用，技術指標全部達標；</a:t>
            </a:r>
            <a:endParaRPr kumimoji="1" lang="zh-CN" altLang="en-US" sz="1800" dirty="0">
              <a:solidFill>
                <a:schemeClr val="tx1"/>
              </a:solidFill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8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進展衡量：以演算法準確率、介面打通數量、試點企業滿意度為核心指標。</a:t>
            </a:r>
            <a:endParaRPr kumimoji="1" lang="zh-CN" altLang="en-US" sz="1800" dirty="0">
              <a:solidFill>
                <a:schemeClr val="tx1"/>
              </a:solidFill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indent="0" algn="l">
              <a:lnSpc>
                <a:spcPct val="150000"/>
              </a:lnSpc>
              <a:buNone/>
            </a:pPr>
            <a:r>
              <a:rPr lang="zh-TW" altLang="en-US" sz="27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四、風險與回報</a:t>
            </a:r>
            <a:endParaRPr lang="zh-TW" altLang="en-US" sz="2700" dirty="0">
              <a:solidFill>
                <a:schemeClr val="tx1"/>
              </a:solidFill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8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風險：跨境政策調整、中小企業數碼化接受度低、技術介面相容問題；</a:t>
            </a:r>
            <a:endParaRPr kumimoji="1" lang="zh-CN" altLang="en-US" sz="1800" dirty="0">
              <a:solidFill>
                <a:schemeClr val="tx1"/>
              </a:solidFill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8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回報：</a:t>
            </a:r>
            <a:r>
              <a:rPr kumimoji="1" lang="en-US" altLang="zh-CN" sz="18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3 </a:t>
            </a:r>
            <a:r>
              <a:rPr kumimoji="1" lang="zh-CN" altLang="en-US" sz="18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年累計經濟效益</a:t>
            </a:r>
            <a:r>
              <a:rPr kumimoji="1" lang="en-US" altLang="zh-CN" sz="18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3700 </a:t>
            </a:r>
            <a:r>
              <a:rPr kumimoji="1" lang="zh-CN" altLang="en-US" sz="1800" dirty="0">
                <a:solidFill>
                  <a:schemeClr val="tx1"/>
                </a:solidFill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萬澳門元，推動澳門物流數碼化升級，強化综合貿易平臺功能。</a:t>
            </a:r>
            <a:endParaRPr kumimoji="1" lang="zh-CN" altLang="en-US" sz="1800" dirty="0">
              <a:solidFill>
                <a:schemeClr val="tx1"/>
              </a:solidFill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Songti TC Regular" panose="02010600040101010101" charset="-122"/>
                <a:ea typeface="Songti TC Regular" panose="02010600040101010101" charset="-122"/>
              </a:rPr>
              <a:t>研發成果的商業價值</a:t>
            </a:r>
            <a:endParaRPr lang="zh-TW" altLang="en-US" dirty="0">
              <a:solidFill>
                <a:srgbClr val="800000"/>
              </a:solidFill>
              <a:effectLst/>
              <a:latin typeface="Songti TC Regular" panose="02010600040101010101" charset="-122"/>
              <a:ea typeface="Songti TC Regular" panose="02010600040101010101" charset="-122"/>
              <a:cs typeface="+mn-cs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82550" indent="0">
              <a:lnSpc>
                <a:spcPct val="150000"/>
              </a:lnSpc>
              <a:buNone/>
            </a:pPr>
            <a:r>
              <a:rPr kumimoji="1" lang="zh-TW" altLang="en-US" sz="18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一、市場需求：</a:t>
            </a:r>
            <a:endParaRPr kumimoji="1" lang="zh-TW" altLang="en-US" sz="18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澳門跨境電商、會展服務等領域物流需求旺盛，2024 年本地中小物流市場規模約 50 億澳門元，年均增長 6%，項目聚焦的核心場景佔市場規模 1-2%。</a:t>
            </a:r>
            <a:endParaRPr kumimoji="1" lang="zh-TW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algn="l">
              <a:lnSpc>
                <a:spcPct val="150000"/>
              </a:lnSpc>
              <a:buNone/>
            </a:pPr>
            <a:r>
              <a:rPr kumimoji="1" lang="zh-TW" altLang="en-US" sz="18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二、競爭優勢：</a:t>
            </a:r>
            <a:endParaRPr kumimoji="1" lang="zh-TW" altLang="en-US" sz="18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技術上具備需求精准匹配與多體系協同能力；成本上研發投入比同類全鏈路系統低 30%；落地性強，可快速對接現有資源，無額外建設成本。</a:t>
            </a:r>
            <a:endParaRPr kumimoji="1" lang="zh-TW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algn="l">
              <a:lnSpc>
                <a:spcPct val="150000"/>
              </a:lnSpc>
              <a:buNone/>
            </a:pPr>
            <a:r>
              <a:rPr kumimoji="1" lang="zh-TW" altLang="en-US" sz="18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三、產業化可能性：</a:t>
            </a:r>
            <a:endParaRPr kumimoji="1" lang="zh-TW" altLang="en-US" sz="18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契合澳門「1+4」適度多元產業政策及大灣區物流一體化規劃，系統採用模塊化 SaaS 架構，可複製至橫琴、中山等周邊節點，產業化基礎紮實。</a:t>
            </a:r>
            <a:endParaRPr kumimoji="1"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Songti TC Regular" panose="02010600040101010101" charset="-122"/>
                <a:ea typeface="Songti TC Regular" panose="02010600040101010101" charset="-122"/>
              </a:rPr>
              <a:t>預期的經濟效益</a:t>
            </a:r>
            <a:endParaRPr lang="zh-TW" altLang="en-US" dirty="0">
              <a:solidFill>
                <a:srgbClr val="800000"/>
              </a:solidFill>
              <a:effectLst/>
              <a:latin typeface="Songti TC Regular" panose="02010600040101010101" charset="-122"/>
              <a:ea typeface="Songti TC Regular" panose="02010600040101010101" charset="-122"/>
              <a:cs typeface="+mn-cs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82550" indent="0" algn="l">
              <a:lnSpc>
                <a:spcPct val="150000"/>
              </a:lnSpc>
              <a:buNone/>
            </a:pPr>
            <a:r>
              <a:rPr kumimoji="1" lang="zh-TW" altLang="en-US" sz="20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一、營銷策略：</a:t>
            </a:r>
            <a:endParaRPr kumimoji="1" lang="zh-TW" altLang="en-US" sz="20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面向澳門及灣區企業，推出「基礎方案年費 + 定製服務收費」模式，基礎方案 3 萬澳門元 / 年・企業，定製方案 8 萬澳門元 / 年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  <a:sym typeface="+mn-ea"/>
              </a:rPr>
              <a:t> / </a:t>
            </a: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企業。</a:t>
            </a:r>
            <a:endParaRPr kumimoji="1" lang="zh-TW" altLang="en-US" sz="4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algn="l">
              <a:lnSpc>
                <a:spcPct val="150000"/>
              </a:lnSpc>
              <a:buNone/>
            </a:pPr>
            <a:r>
              <a:rPr kumimoji="1" lang="zh-TW" altLang="en-US" sz="20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二、量化指標：</a:t>
            </a:r>
            <a:endParaRPr kumimoji="1" lang="zh-TW" altLang="en-US" sz="20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第一年銷售收入 500 萬澳門元（服務 20 家企業），第二年 1200 萬澳門元（40 家企業），第三年 2000 萬澳門元（50 家以上企業）。</a:t>
            </a:r>
            <a:endParaRPr kumimoji="1" lang="zh-TW" altLang="en-US" sz="4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algn="l">
              <a:lnSpc>
                <a:spcPct val="150000"/>
              </a:lnSpc>
              <a:buNone/>
            </a:pPr>
            <a:r>
              <a:rPr kumimoji="1" lang="zh-TW" altLang="en-US" sz="20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三、獲利方式：</a:t>
            </a:r>
            <a:endParaRPr kumimoji="1" lang="zh-TW" altLang="en-US" sz="20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依託技術獨特性與低成本優勢，通過規模化擴張與增值服務實現盈利，同時享受低碳政策獎勵與碳交易收益。</a:t>
            </a:r>
            <a:endParaRPr kumimoji="1"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Songti TC Regular" panose="02010600040101010101" charset="-122"/>
                <a:ea typeface="Songti TC Regular" panose="02010600040101010101" charset="-122"/>
              </a:rPr>
              <a:t>合作雙方的優勢及互補性</a:t>
            </a:r>
            <a:endParaRPr kumimoji="1" lang="zh-TW" altLang="en-US" dirty="0">
              <a:latin typeface="Songti TC Regular" panose="02010600040101010101" charset="-122"/>
              <a:ea typeface="Songti TC Regular" panose="02010600040101010101" charset="-122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550" indent="0">
              <a:lnSpc>
                <a:spcPct val="150000"/>
              </a:lnSpc>
              <a:buNone/>
            </a:pPr>
            <a:r>
              <a:rPr kumimoji="1" lang="zh-TW" altLang="en-US" sz="1800" b="1" dirty="0">
                <a:latin typeface="Songti TC Bold" panose="02010600040101010101" charset="-122"/>
                <a:ea typeface="Songti TC Bold" panose="02010600040101010101" charset="-122"/>
                <a:cs typeface="Songti TC Bold" panose="02010600040101010101" charset="-122"/>
              </a:rPr>
              <a:t>一、甲方（小城 S 一人有限公司）優勢：</a:t>
            </a:r>
            <a:endParaRPr kumimoji="1" lang="zh-TW" altLang="en-US" sz="1800" b="1" dirty="0">
              <a:latin typeface="Songti TC Bold" panose="02010600040101010101" charset="-122"/>
              <a:ea typeface="Songti TC Bold" panose="02010600040101010101" charset="-122"/>
              <a:cs typeface="Songti TC Bold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熟悉澳門本地物流市場需求與產業痛點，具備成熟的市場管道、項目管理經驗及落地驗證條件，可推動技術成果產業化。</a:t>
            </a:r>
            <a:endParaRPr kumimoji="1" lang="zh-TW" altLang="en-US" sz="4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algn="l">
              <a:lnSpc>
                <a:spcPct val="150000"/>
              </a:lnSpc>
              <a:buNone/>
            </a:pPr>
            <a:r>
              <a:rPr kumimoji="1" lang="zh-TW" altLang="en-US" sz="1800" b="1" dirty="0">
                <a:latin typeface="Songti TC Bold" panose="02010600040101010101" charset="-122"/>
                <a:ea typeface="Songti TC Bold" panose="02010600040101010101" charset="-122"/>
                <a:cs typeface="Songti TC Bold" panose="02010600040101010101" charset="-122"/>
              </a:rPr>
              <a:t>二、乙方（浙江大學）優勢：</a:t>
            </a:r>
            <a:endParaRPr kumimoji="1" lang="zh-TW" altLang="en-US" sz="1800" b="1" dirty="0">
              <a:latin typeface="Songti TC Bold" panose="02010600040101010101" charset="-122"/>
              <a:ea typeface="Songti TC Bold" panose="02010600040101010101" charset="-122"/>
              <a:cs typeface="Songti TC Bold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頂尖科研團隊，在人工智慧、大數據、圖演算法等領域具備深厚技術積累，可提供核心演算法支撐與高端人才資源。</a:t>
            </a:r>
            <a:endParaRPr kumimoji="1" lang="zh-TW" altLang="en-US" sz="40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algn="l">
              <a:lnSpc>
                <a:spcPct val="150000"/>
              </a:lnSpc>
              <a:buNone/>
            </a:pPr>
            <a:r>
              <a:rPr kumimoji="1" lang="zh-TW" altLang="en-US" sz="1800" b="1" dirty="0">
                <a:latin typeface="Songti TC Bold" panose="02010600040101010101" charset="-122"/>
                <a:ea typeface="Songti TC Bold" panose="02010600040101010101" charset="-122"/>
                <a:cs typeface="Songti TC Bold" panose="02010600040101010101" charset="-122"/>
              </a:rPr>
              <a:t>三、互補性：</a:t>
            </a:r>
            <a:endParaRPr kumimoji="1" lang="zh-TW" altLang="en-US" sz="1800" b="1" dirty="0">
              <a:latin typeface="Songti TC Bold" panose="02010600040101010101" charset="-122"/>
              <a:ea typeface="Songti TC Bold" panose="02010600040101010101" charset="-122"/>
              <a:cs typeface="Songti TC Bold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甲方負責市場對接、項目落地與資金配套，乙方負責核心技術攻關、理論支撐與學術驗證，形成「產學研」閉環，解決企業「創新難」與高校「轉化難」問題。</a:t>
            </a:r>
            <a:endParaRPr kumimoji="1" lang="zh-CN" altLang="en-US" sz="14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algn="l">
              <a:lnSpc>
                <a:spcPct val="150000"/>
              </a:lnSpc>
              <a:buNone/>
            </a:pPr>
            <a:r>
              <a:rPr kumimoji="1" lang="zh-TW" altLang="en-US" sz="1800" b="1" dirty="0">
                <a:latin typeface="Songti TC Bold" panose="02010600040101010101" charset="-122"/>
                <a:ea typeface="Songti TC Bold" panose="02010600040101010101" charset="-122"/>
                <a:cs typeface="Songti TC Bold" panose="02010600040101010101" charset="-122"/>
              </a:rPr>
              <a:t>四、合作基礎：</a:t>
            </a:r>
            <a:endParaRPr kumimoji="1" lang="zh-TW" altLang="en-US" sz="1800" b="1" dirty="0">
              <a:latin typeface="Songti TC Bold" panose="02010600040101010101" charset="-122"/>
              <a:ea typeface="Songti TC Bold" panose="02010600040101010101" charset="-122"/>
              <a:cs typeface="Songti TC Bold" panose="02010600040101010101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已通過「產學研線上配對平臺」成功配對，明確合作分工與成果共用約定，合作基礎紮實。</a:t>
            </a:r>
            <a:endParaRPr kumimoji="1" lang="zh-CN" altLang="en-US" sz="14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預算分析</a:t>
            </a:r>
            <a:r>
              <a:rPr lang="en-US" altLang="zh-TW" dirty="0">
                <a:effectLst/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 </a:t>
            </a:r>
            <a:endParaRPr kumimoji="1" lang="zh-TW" altLang="en-US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550" indent="0" algn="l">
              <a:lnSpc>
                <a:spcPct val="150000"/>
              </a:lnSpc>
              <a:buNone/>
            </a:pPr>
            <a:r>
              <a:rPr kumimoji="1" lang="zh-TW" altLang="en-US" sz="20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一、申請金額：</a:t>
            </a:r>
            <a:endParaRPr kumimoji="1" lang="zh-TW" altLang="en-US" sz="44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250,000 澳門元</a:t>
            </a:r>
            <a:endParaRPr kumimoji="1"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algn="l">
              <a:lnSpc>
                <a:spcPct val="150000"/>
              </a:lnSpc>
              <a:buNone/>
            </a:pPr>
            <a:r>
              <a:rPr kumimoji="1" lang="zh-TW" altLang="en-US" sz="20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二、申請實體自行配套經費：</a:t>
            </a:r>
            <a:endParaRPr kumimoji="1" lang="zh-TW" altLang="en-US" sz="20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379,500 澳門元</a:t>
            </a:r>
            <a:endParaRPr kumimoji="1" lang="zh-TW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marL="82550" algn="l">
              <a:lnSpc>
                <a:spcPct val="150000"/>
              </a:lnSpc>
              <a:buNone/>
            </a:pPr>
            <a:r>
              <a:rPr kumimoji="1" lang="zh-TW" altLang="en-US" sz="2000" b="1" dirty="0">
                <a:latin typeface="Songti TC Bold" panose="02010600040101010101" charset="-122"/>
                <a:ea typeface="Songti TC Bold" panose="02010600040101010101" charset="-122"/>
                <a:cs typeface="Songti TC Regular" panose="02010600040101010101" charset="-122"/>
              </a:rPr>
              <a:t>三、預算分類分析：</a:t>
            </a:r>
            <a:endParaRPr kumimoji="1" lang="zh-TW" altLang="en-US" sz="2000" b="1" dirty="0">
              <a:latin typeface="Songti TC Bold" panose="02010600040101010101" charset="-122"/>
              <a:ea typeface="Songti TC Bold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①協作費 135,000 澳門元，用於聯合浙大攻關核心技術；</a:t>
            </a:r>
            <a:endParaRPr kumimoji="1"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②人員津貼 144,000 澳門元，保障本地項目協調與推進；</a:t>
            </a:r>
            <a:endParaRPr kumimoji="1"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③系統開發與迭代 150,000 澳門元，覆蓋核心模塊研發；</a:t>
            </a:r>
            <a:endParaRPr kumimoji="1"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sz="16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④設備與軟件授權 133,500 澳門元，支撐數據存儲與演算法訓練。</a:t>
            </a:r>
            <a:endParaRPr kumimoji="1" lang="zh-CN" altLang="en-US" sz="16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Songti TC Regular" panose="02010600040101010101" charset="-122"/>
                <a:ea typeface="Songti TC Regular" panose="02010600040101010101" charset="-122"/>
              </a:rPr>
              <a:t>其他</a:t>
            </a:r>
            <a:endParaRPr kumimoji="1" lang="zh-TW" altLang="en-US" dirty="0">
              <a:latin typeface="Songti TC Regular" panose="02010600040101010101" charset="-122"/>
              <a:ea typeface="Songti TC Regular" panose="02010600040101010101" charset="-122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50000"/>
              </a:lnSpc>
            </a:pPr>
            <a:r>
              <a:rPr kumimoji="1"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項目負責人余偉成已累計申請 4 個 FDCT 項目，其中 3 個順利結題、1 個進行中，項目執行能力與可信度經過驗證。</a:t>
            </a:r>
            <a:endParaRPr kumimoji="1" lang="zh-CN" altLang="en-US" sz="1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sz="1800" dirty="0">
                <a:latin typeface="Songti TC Regular" panose="02010600040101010101" charset="-122"/>
                <a:ea typeface="Songti TC Regular" panose="02010600040101010101" charset="-122"/>
                <a:cs typeface="Songti TC Regular" panose="02010600040101010101" charset="-122"/>
              </a:rPr>
              <a:t>項目契合國家「雙循環」「一帶一路」戰略及澳門「貿易平臺」定位，不僅帶動本地經濟，還能強化澳門在全球供應鏈中的競爭力。</a:t>
            </a:r>
            <a:endParaRPr kumimoji="1" lang="zh-CN" altLang="en-US" sz="1800" dirty="0">
              <a:latin typeface="Songti TC Regular" panose="02010600040101010101" charset="-122"/>
              <a:ea typeface="Songti TC Regular" panose="02010600040101010101" charset="-122"/>
              <a:cs typeface="Songti TC Regular" panose="02010600040101010101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典雅色系">
  <a:themeElements>
    <a:clrScheme name="典雅色系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典雅色系">
      <a:maj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典雅色系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典雅色系.thmx</Template>
  <TotalTime>0</TotalTime>
  <Words>3506</Words>
  <Application>WPS 演示</Application>
  <PresentationFormat>On-screen Show (4:3)</PresentationFormat>
  <Paragraphs>151</Paragraphs>
  <Slides>15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15</vt:i4>
      </vt:variant>
    </vt:vector>
  </HeadingPairs>
  <TitlesOfParts>
    <vt:vector size="42" baseType="lpstr">
      <vt:lpstr>Arial</vt:lpstr>
      <vt:lpstr>宋体</vt:lpstr>
      <vt:lpstr>Wingdings</vt:lpstr>
      <vt:lpstr>Wingdings 2</vt:lpstr>
      <vt:lpstr>Verdana</vt:lpstr>
      <vt:lpstr>Arial</vt:lpstr>
      <vt:lpstr>Songti TC Regular</vt:lpstr>
      <vt:lpstr>Songti TC Bold</vt:lpstr>
      <vt:lpstr>Gill Sans MT</vt:lpstr>
      <vt:lpstr>苹方-简</vt:lpstr>
      <vt:lpstr>微软雅黑</vt:lpstr>
      <vt:lpstr>宋体</vt:lpstr>
      <vt:lpstr>Arial Unicode MS</vt:lpstr>
      <vt:lpstr>微軟正黑體</vt:lpstr>
      <vt:lpstr>汉仪中黑KW</vt:lpstr>
      <vt:lpstr>华文中宋</vt:lpstr>
      <vt:lpstr>汉仪书宋二KW</vt:lpstr>
      <vt:lpstr>Calibri</vt:lpstr>
      <vt:lpstr>Helvetica Neue</vt:lpstr>
      <vt:lpstr>思源黑体 CN</vt:lpstr>
      <vt:lpstr>PMingLiU</vt:lpstr>
      <vt:lpstr>宋体-繁</vt:lpstr>
      <vt:lpstr>MS PGothic</vt:lpstr>
      <vt:lpstr>苹方-繁</vt:lpstr>
      <vt:lpstr>典雅色系</vt:lpstr>
      <vt:lpstr>自訂設計</vt:lpstr>
      <vt:lpstr>1_自訂設計</vt:lpstr>
      <vt:lpstr>項目中英文名稱： 澳門國際物流綜合服務系統（LotusSmartServicePlatform, LotusSSP）</vt:lpstr>
      <vt:lpstr>研究目標 </vt:lpstr>
      <vt:lpstr>企業概況</vt:lpstr>
      <vt:lpstr>研究內容與方法 </vt:lpstr>
      <vt:lpstr>研究內容與方法 </vt:lpstr>
      <vt:lpstr>本項目的創新性</vt:lpstr>
      <vt:lpstr>本項目的創新性</vt:lpstr>
      <vt:lpstr>本項目的創新性</vt:lpstr>
      <vt:lpstr>可產業化的成果</vt:lpstr>
      <vt:lpstr>可產業化的成果</vt:lpstr>
      <vt:lpstr>研發成果的商業價值</vt:lpstr>
      <vt:lpstr>預期的經濟效益</vt:lpstr>
      <vt:lpstr>合作雙方的優勢及互補性</vt:lpstr>
      <vt:lpstr>預算分析 </vt:lpstr>
      <vt:lpstr>其他</vt:lpstr>
    </vt:vector>
  </TitlesOfParts>
  <Company>FDCT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項目名稱：abcdefg</dc:title>
  <dc:creator>Sky Chan</dc:creator>
  <cp:lastModifiedBy>WPS_1560584740</cp:lastModifiedBy>
  <cp:revision>70</cp:revision>
  <dcterms:created xsi:type="dcterms:W3CDTF">2025-11-21T06:51:21Z</dcterms:created>
  <dcterms:modified xsi:type="dcterms:W3CDTF">2025-11-21T06:51:21Z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F39AE2B454F5CB695AE21A692CE31B56_43</vt:lpwstr>
  </property>
  <property fmtid="{D5CDD505-2E9C-101B-9397-08002B2CF9AE}" pid="3" name="KSOProductBuildVer">
    <vt:lpwstr>2052-6.7.1.8828</vt:lpwstr>
  </property>
</Properties>
</file>