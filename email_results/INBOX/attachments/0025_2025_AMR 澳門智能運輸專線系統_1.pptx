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3" r:id="rId4"/>
  </p:sldMasterIdLst>
  <p:notesMasterIdLst>
    <p:notesMasterId r:id="rId8"/>
  </p:notesMasterIdLst>
  <p:handoutMasterIdLst>
    <p:handoutMasterId r:id="rId24"/>
  </p:handoutMasterIdLst>
  <p:sldIdLst>
    <p:sldId id="256" r:id="rId5"/>
    <p:sldId id="258" r:id="rId6"/>
    <p:sldId id="268" r:id="rId7"/>
    <p:sldId id="259" r:id="rId9"/>
    <p:sldId id="272" r:id="rId10"/>
    <p:sldId id="273" r:id="rId11"/>
    <p:sldId id="270" r:id="rId12"/>
    <p:sldId id="274" r:id="rId13"/>
    <p:sldId id="261" r:id="rId14"/>
    <p:sldId id="275" r:id="rId15"/>
    <p:sldId id="277" r:id="rId16"/>
    <p:sldId id="267" r:id="rId17"/>
    <p:sldId id="276" r:id="rId18"/>
    <p:sldId id="266" r:id="rId19"/>
    <p:sldId id="269" r:id="rId20"/>
    <p:sldId id="265" r:id="rId21"/>
    <p:sldId id="262" r:id="rId22"/>
    <p:sldId id="263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規範" id="{AF1AA17C-BCB4-874A-9C52-C87F58B70EF1}">
          <p14:sldIdLst/>
        </p14:section>
        <p14:section name="示範" id="{8FC2453B-4468-2B47-BE3D-E88B547472AC}">
          <p14:sldIdLst>
            <p14:sldId id="256"/>
            <p14:sldId id="258"/>
            <p14:sldId id="268"/>
            <p14:sldId id="259"/>
            <p14:sldId id="272"/>
            <p14:sldId id="273"/>
            <p14:sldId id="270"/>
            <p14:sldId id="274"/>
            <p14:sldId id="261"/>
            <p14:sldId id="275"/>
            <p14:sldId id="277"/>
            <p14:sldId id="267"/>
            <p14:sldId id="276"/>
            <p14:sldId id="266"/>
            <p14:sldId id="269"/>
            <p14:sldId id="265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2" autoAdjust="0"/>
    <p:restoredTop sz="81385" autoAdjust="0"/>
  </p:normalViewPr>
  <p:slideViewPr>
    <p:cSldViewPr snapToGrid="0" snapToObjects="1" showGuides="1">
      <p:cViewPr varScale="1">
        <p:scale>
          <a:sx n="86" d="100"/>
          <a:sy n="86" d="100"/>
        </p:scale>
        <p:origin x="193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0F53A-52FF-BE4D-8A83-304863818CCD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按一下以編輯母片文字樣式</a:t>
            </a:r>
            <a:endParaRPr kumimoji="1" lang="zh-CN" altLang="en-US"/>
          </a:p>
          <a:p>
            <a:pPr lvl="1"/>
            <a:r>
              <a:rPr kumimoji="1" lang="zh-CN" altLang="en-US"/>
              <a:t>第二層</a:t>
            </a:r>
            <a:endParaRPr kumimoji="1" lang="zh-CN" altLang="en-US"/>
          </a:p>
          <a:p>
            <a:pPr lvl="2"/>
            <a:r>
              <a:rPr kumimoji="1" lang="zh-CN" altLang="en-US"/>
              <a:t>第三層</a:t>
            </a:r>
            <a:endParaRPr kumimoji="1" lang="zh-CN" altLang="en-US"/>
          </a:p>
          <a:p>
            <a:pPr lvl="3"/>
            <a:r>
              <a:rPr kumimoji="1" lang="zh-CN" altLang="en-US"/>
              <a:t>第四層</a:t>
            </a:r>
            <a:endParaRPr kumimoji="1" lang="zh-CN" altLang="en-US"/>
          </a:p>
          <a:p>
            <a:pPr lvl="4"/>
            <a:r>
              <a:rPr kumimoji="1" lang="zh-CN" altLang="en-US"/>
              <a:t>第五層</a:t>
            </a:r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22" name="子標題 21"/>
          <p:cNvSpPr>
            <a:spLocks noGrp="1"/>
          </p:cNvSpPr>
          <p:nvPr>
            <p:ph type="subTitle" idx="1" hasCustomPrompt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305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按一下以編輯母片子標題樣式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292D-1797-49A5-8D2D-8D50C72EF3CC}" type="datetimeFigureOut">
              <a:rPr lang="en-US" smtClean="0"/>
            </a:fld>
            <a:endParaRPr lang="en-US"/>
          </a:p>
        </p:txBody>
      </p:sp>
      <p:sp>
        <p:nvSpPr>
          <p:cNvPr id="20" name="頁尾版面配置區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ACD6-A525-4B49-8009-7F09B4461B46}" type="slidenum">
              <a:rPr lang="en-US" smtClean="0"/>
            </a:fld>
            <a:endParaRPr lang="en-US"/>
          </a:p>
        </p:txBody>
      </p:sp>
      <p:sp>
        <p:nvSpPr>
          <p:cNvPr id="8" name="橢圓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橢圓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415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  <a:endParaRPr kumimoji="0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292D-1797-49A5-8D2D-8D50C72EF3CC}" type="datetimeFigureOut">
              <a:rPr lang="en-US" smtClean="0"/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C888B-D9F9-4E54-B722-F151A9F45E95}" type="slidenum">
              <a:rPr lang="en-US" smtClean="0"/>
            </a:fld>
            <a:endParaRPr 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橢圓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橢圓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  <a:endParaRPr kumimoji="0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  <a:endParaRPr kumimoji="0"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  <a:endParaRPr kumimoji="0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210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 hasCustomPrompt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</a:lstStyle>
          <a:p>
            <a:pPr marL="0" algn="l" eaLnBrk="1" latinLnBrk="0" hangingPunct="1"/>
            <a:r>
              <a:rPr kumimoji="0" lang="zh-TW" altLang="en-US"/>
              <a:t>將圖片拖曳至版面配置區或按一下圖示以新增</a:t>
            </a:r>
            <a:endParaRPr kumimoji="0" lang="en-US" dirty="0"/>
          </a:p>
        </p:txBody>
      </p:sp>
      <p:sp>
        <p:nvSpPr>
          <p:cNvPr id="9" name="流程圖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流程圖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  <a:endParaRPr kumimoji="0"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按一下以編輯母片子標題樣式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按一下以編輯母片子標題樣式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圓形圖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橢圓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甜甜圈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標題版面配置區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文字版面配置區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  <a:endParaRPr kumimoji="0" lang="zh-TW" altLang="en-US"/>
          </a:p>
          <a:p>
            <a:pPr lvl="1" eaLnBrk="1" latinLnBrk="0" hangingPunct="1"/>
            <a:r>
              <a:rPr kumimoji="0" lang="zh-TW" altLang="en-US"/>
              <a:t>第二層</a:t>
            </a:r>
            <a:endParaRPr kumimoji="0" lang="zh-TW" altLang="en-US"/>
          </a:p>
          <a:p>
            <a:pPr lvl="2" eaLnBrk="1" latinLnBrk="0" hangingPunct="1"/>
            <a:r>
              <a:rPr kumimoji="0" lang="zh-TW" altLang="en-US"/>
              <a:t>第三層</a:t>
            </a:r>
            <a:endParaRPr kumimoji="0" lang="zh-TW" altLang="en-US"/>
          </a:p>
          <a:p>
            <a:pPr lvl="3" eaLnBrk="1" latinLnBrk="0" hangingPunct="1"/>
            <a:r>
              <a:rPr kumimoji="0" lang="zh-TW" altLang="en-US"/>
              <a:t>第四層</a:t>
            </a:r>
            <a:endParaRPr kumimoji="0" lang="zh-TW" altLang="en-US"/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24" name="日期版面配置區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fld id="{74C7E049-B585-4EE6-96C0-EEB30EAA14FD}" type="slidenum">
              <a:rPr lang="en-US" smtClean="0"/>
            </a:fld>
            <a:endParaRPr 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83210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 panose="05020102010507070707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490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 panose="020B0804030504040204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7095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 panose="05020102010507070707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990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575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894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42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32560" y="359897"/>
            <a:ext cx="7406640" cy="2727639"/>
          </a:xfrm>
        </p:spPr>
        <p:txBody>
          <a:bodyPr>
            <a:normAutofit/>
          </a:bodyPr>
          <a:lstStyle/>
          <a:p>
            <a:r>
              <a:rPr kumimoji="1" lang="zh-TW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項目中英文名稱：</a:t>
            </a:r>
            <a:br>
              <a:rPr kumimoji="1" lang="zh-TW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</a:br>
            <a:r>
              <a:rPr kumimoji="1" lang="zh-CN" altLang="en-US" sz="311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澳門智能運輸專線系統</a:t>
            </a:r>
            <a:br>
              <a:rPr kumimoji="1" lang="zh-CN" altLang="en-US" sz="311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</a:br>
            <a:r>
              <a:rPr kumimoji="1" lang="en-US" altLang="zh-CN" sz="311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Australian Smart Logistics Express Line (SmartAusLink)</a:t>
            </a:r>
            <a:endParaRPr kumimoji="1" lang="en-US" altLang="zh-CN" sz="311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531089" y="4017908"/>
            <a:ext cx="7406640" cy="2270185"/>
          </a:xfrm>
        </p:spPr>
        <p:txBody>
          <a:bodyPr>
            <a:normAutofit/>
          </a:bodyPr>
          <a:lstStyle/>
          <a:p>
            <a:endParaRPr kumimoji="1" lang="en-US" altLang="zh-TW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r>
              <a:rPr kumimoji="1" lang="zh-TW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申請實體</a:t>
            </a:r>
            <a:r>
              <a:rPr kumimoji="1" lang="zh-CN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小城</a:t>
            </a:r>
            <a:r>
              <a:rPr kumimoji="1" lang="en-US" altLang="zh-CN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S 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一人有限公司</a:t>
            </a:r>
            <a:endParaRPr kumimoji="1" lang="zh-CN" altLang="en-US" sz="24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r>
              <a:rPr kumimoji="1" lang="zh-TW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項目負責人</a:t>
            </a:r>
            <a:r>
              <a:rPr kumimoji="1" lang="zh-CN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余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偉成 總經理</a:t>
            </a:r>
            <a:endParaRPr kumimoji="1" lang="zh-CN" altLang="en-US" sz="2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r>
              <a:rPr kumimoji="1" lang="zh-TW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合作機構名稱</a:t>
            </a:r>
            <a:r>
              <a:rPr kumimoji="1" lang="en-US" altLang="zh-TW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: 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浙江大學</a:t>
            </a:r>
            <a:endParaRPr kumimoji="1" lang="zh-CN" altLang="en-US" sz="2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r>
              <a:rPr kumimoji="1" lang="zh-TW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合作機構項目負責人</a:t>
            </a:r>
            <a:r>
              <a:rPr kumimoji="1" lang="zh-CN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：</a:t>
            </a:r>
            <a:r>
              <a:rPr kumimoji="1" lang="en-US" altLang="zh-CN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王燦</a:t>
            </a:r>
            <a:r>
              <a:rPr kumimoji="1" lang="en-US" altLang="zh-CN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教授</a:t>
            </a:r>
            <a:endParaRPr kumimoji="1" lang="zh-CN" altLang="en-US" sz="2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研究目標</a:t>
            </a:r>
            <a:r>
              <a:rPr lang="en-US" altLang="zh-TW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endParaRPr kumimoji="1" lang="zh-TW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一、配對需求及成果名稱</a:t>
            </a:r>
            <a:r>
              <a:rPr kumimoji="1" lang="zh-CN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  <a:sym typeface="+mn-ea"/>
              </a:rPr>
              <a:t>：</a:t>
            </a:r>
            <a:endParaRPr lang="zh-TW" altLang="en-US" sz="2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澳門智能運輸專線系統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endParaRPr lang="en-US" altLang="zh-TW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二、核心目標</a:t>
            </a:r>
            <a:r>
              <a:rPr kumimoji="1" lang="zh-CN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：</a:t>
            </a:r>
            <a:endParaRPr kumimoji="1" lang="zh-CN" altLang="en-US" sz="2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用通俗語言搭建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智澳專線通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車輛資訊集合平臺，解決澳門本地及跨境車隊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資訊散、派車慢、路徑亂、碳排放高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的痛點。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三、預期目標</a:t>
            </a:r>
            <a:r>
              <a:rPr kumimoji="1" lang="zh-CN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：</a:t>
            </a:r>
            <a:endParaRPr kumimoji="1" lang="zh-CN" altLang="en-US" sz="2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實現車隊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一屏可管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、自動派車回應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≤15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秒、路徑規劃精度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≥95%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，單趟運輸碳減排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≥20%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，為中小物流企業提供一體化智能調度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綠色運輸解決方案。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effectLst/>
                <a:latin typeface="Songti TC Regular" panose="02010600040101010101" charset="-122"/>
                <a:ea typeface="Songti TC Regular" panose="02010600040101010101" charset="-122"/>
              </a:rPr>
              <a:t>企業概況</a:t>
            </a:r>
            <a:endParaRPr lang="zh-TW" altLang="en-US" dirty="0">
              <a:effectLst/>
              <a:latin typeface="Songti TC Regular" panose="02010600040101010101" charset="-122"/>
              <a:ea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一、管理團隊</a:t>
            </a:r>
            <a:r>
              <a:rPr kumimoji="1" lang="zh-CN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：</a:t>
            </a:r>
            <a:endParaRPr kumimoji="1" lang="zh-CN" altLang="en-US" sz="2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負責人余偉成有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Google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區域主管、物流企業運營經驗，主持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/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參與多個跨境物流科研專案；團隊兼具技術開發與產業洞察，跨領域運營經驗豐富。</a:t>
            </a:r>
            <a:endParaRPr kumimoji="1" lang="zh-CN" altLang="en-US" sz="1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二、技術積累：</a:t>
            </a:r>
            <a:endParaRPr kumimoji="1" lang="zh-CN" altLang="en-US" sz="12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具備系統集成、物聯網設備管理、雲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SaaS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平臺開發能力，深耕交易數據、物流數據處理，技術轉化基礎扎實。</a:t>
            </a:r>
            <a:endParaRPr kumimoji="1" lang="zh-CN" altLang="en-US" sz="1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三、基礎條件：</a:t>
            </a:r>
            <a:endParaRPr lang="zh-TW" altLang="en-US" sz="2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擁有真實業務場景與數據作為測試床，具備專案研發所需場地、辦公及測試設備。</a:t>
            </a:r>
            <a:endParaRPr kumimoji="1" lang="zh-CN" altLang="en-US" sz="1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四、資金情況：</a:t>
            </a:r>
            <a:endParaRPr lang="zh-TW" altLang="en-US" sz="2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自行配套經費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574,500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澳門元，資金與專案實施計畫匹配度高。</a:t>
            </a:r>
            <a:endParaRPr kumimoji="1" lang="zh-CN" altLang="en-US" sz="1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研究內容</a:t>
            </a:r>
            <a:r>
              <a:rPr lang="zh-TW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與方法</a:t>
            </a:r>
            <a:r>
              <a:rPr lang="en-US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endParaRPr lang="zh-TW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CN" altLang="en-US" sz="2525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核心結論：</a:t>
            </a:r>
            <a:endParaRPr lang="zh-CN" altLang="en-US" sz="2525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以</a:t>
            </a:r>
            <a:r>
              <a:rPr lang="en-US" altLang="zh-CN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lang="zh-CN" altLang="en-US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全流程一體化</a:t>
            </a:r>
            <a:r>
              <a:rPr lang="en-US" altLang="zh-CN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lang="zh-CN" altLang="en-US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技術落地</a:t>
            </a:r>
            <a:r>
              <a:rPr lang="en-US" altLang="zh-CN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lang="zh-CN" altLang="en-US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為核心，圍繞</a:t>
            </a:r>
            <a:r>
              <a:rPr lang="en-US" altLang="zh-CN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lang="zh-CN" altLang="en-US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車輛資訊整合</a:t>
            </a:r>
            <a:r>
              <a:rPr lang="en-US" altLang="zh-CN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lang="zh-CN" altLang="en-US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自動派車</a:t>
            </a:r>
            <a:r>
              <a:rPr lang="en-US" altLang="zh-CN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lang="zh-CN" altLang="en-US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路徑規劃</a:t>
            </a:r>
            <a:r>
              <a:rPr lang="en-US" altLang="zh-CN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lang="zh-CN" altLang="en-US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資訊共用</a:t>
            </a:r>
            <a:r>
              <a:rPr lang="en-US" altLang="zh-CN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lang="zh-CN" altLang="en-US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綠色調度</a:t>
            </a:r>
            <a:r>
              <a:rPr lang="en-US" altLang="zh-CN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lang="zh-CN" altLang="en-US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五大環節，通過校企協同研發，用成熟技術適配實際場景，破解澳門跨境物流核心痛點，實現技術從實驗室（</a:t>
            </a:r>
            <a:r>
              <a:rPr lang="en-US" altLang="zh-CN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TRL4</a:t>
            </a:r>
            <a:r>
              <a:rPr lang="zh-CN" altLang="en-US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）到產業化試用（</a:t>
            </a:r>
            <a:r>
              <a:rPr lang="en-US" altLang="zh-CN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TRL7</a:t>
            </a:r>
            <a:r>
              <a:rPr lang="zh-CN" altLang="en-US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）的升級。</a:t>
            </a:r>
            <a:endParaRPr lang="zh-CN" altLang="en-US" sz="15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 algn="l">
              <a:lnSpc>
                <a:spcPct val="150000"/>
              </a:lnSpc>
              <a:buNone/>
            </a:pPr>
            <a:r>
              <a:rPr lang="zh-CN" altLang="en-US" sz="2525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一、總體研發方案概述</a:t>
            </a:r>
            <a:endParaRPr lang="zh-CN" altLang="en-US" sz="2525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聚焦澳門本地及跨境車隊管理實際需求，以 “解決痛點、實用優先、綠色協同” 為原則，構建 “數據採集 - 智能決策 - 即時協同 - 碳控優化” 的全鏈路系統。通過整合 5G、AI 演算法、物聯網等技術，打通 “車輛 - 訂單 - 調度 - 路徑 - 碳排放” 的數據閉環，最終交付可直接落地的智能運輸專線系統，滿足中小物流企業高效運營與綠色合規需求。</a:t>
            </a:r>
            <a:endParaRPr lang="zh-CN" altLang="en-US" sz="15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研究內容</a:t>
            </a:r>
            <a:r>
              <a:rPr lang="zh-TW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與方法</a:t>
            </a:r>
            <a:r>
              <a:rPr lang="en-US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endParaRPr lang="zh-TW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35735" y="1447800"/>
            <a:ext cx="7498080" cy="5203190"/>
          </a:xfrm>
        </p:spPr>
        <p:txBody>
          <a:bodyPr>
            <a:normAutofit fontScale="25000"/>
          </a:bodyPr>
          <a:lstStyle/>
          <a:p>
            <a:pPr marL="82550" algn="l">
              <a:lnSpc>
                <a:spcPct val="150000"/>
              </a:lnSpc>
              <a:buNone/>
            </a:pPr>
            <a:r>
              <a:rPr lang="zh-CN" altLang="en-US" sz="112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二、核心工作內容</a:t>
            </a:r>
            <a:endParaRPr lang="zh-CN" altLang="en-US" sz="112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6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車輛資訊整合中樞搭建：採集本地 / 跨境車輛 GPS 定位、載重餘量、保養狀態等數據，構建多維度車輛資料庫，支持按區域、車型、狀態篩選，實現 “一屏管全車隊”。</a:t>
            </a:r>
            <a:endParaRPr lang="zh-CN" altLang="en-US" sz="6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6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多維度自動派車系統開發：基於訂單需求（貨物類型、時效）與車輛屬性（載重、位置），開發匹配演算法，自動推送訂單至最優司機端，支持人工調整與緊急訂單優先設置。</a:t>
            </a:r>
            <a:endParaRPr lang="zh-CN" altLang="en-US" sz="6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6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動態路徑規劃引擎研發：整合第三方即時路況數據，優化路徑規劃邏輯，支持動態避堵與路徑偏差提醒（偏離超 500 米觸發提醒）。</a:t>
            </a:r>
            <a:endParaRPr lang="zh-CN" altLang="en-US" sz="6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6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即時路徑共用系統搭建：基於 WebSocket 協議，實現調度員與司機端位置、進度同步，支持司機一鍵上報異常（故障、堵車）並觸發提醒。</a:t>
            </a:r>
            <a:endParaRPr lang="zh-CN" altLang="en-US" sz="6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6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綠色調度與碳足跡模組開發：構建碳排放計算模型，自動標記電動貨車並優先匹配，生成標準化碳足跡報告，支持企業導出用於綠色運營評估。</a:t>
            </a:r>
            <a:endParaRPr lang="zh-CN" altLang="en-US" sz="6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  <a:sym typeface="+mn-ea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研究內容</a:t>
            </a:r>
            <a:r>
              <a:rPr lang="zh-TW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與方法</a:t>
            </a:r>
            <a:r>
              <a:rPr lang="en-US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endParaRPr lang="zh-TW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35735" y="1447800"/>
            <a:ext cx="7498080" cy="5203190"/>
          </a:xfrm>
        </p:spPr>
        <p:txBody>
          <a:bodyPr>
            <a:normAutofit fontScale="35000"/>
          </a:bodyPr>
          <a:lstStyle/>
          <a:p>
            <a:pPr marL="82550" indent="0" algn="l">
              <a:lnSpc>
                <a:spcPct val="150000"/>
              </a:lnSpc>
              <a:buNone/>
            </a:pPr>
            <a:r>
              <a:rPr lang="zh-CN" altLang="en-US" sz="8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  <a:sym typeface="+mn-ea"/>
              </a:rPr>
              <a:t>三、研究方法</a:t>
            </a:r>
            <a:endParaRPr lang="zh-CN" altLang="en-US" sz="8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51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數據採集方法：採用 “5G+GPS + 感測器” 組合，即時採集車輛動態數據，通過數據壓縮演算法降低傳輸延遲。</a:t>
            </a:r>
            <a:endParaRPr lang="zh-CN" altLang="en-US" sz="51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51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演算法建模方法：派車環節採用 “距離 - 貨物 - </a:t>
            </a:r>
            <a:r>
              <a:rPr lang="zh-TW" altLang="zh-CN" sz="51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閒置</a:t>
            </a:r>
            <a:r>
              <a:rPr lang="zh-CN" altLang="en-US" sz="51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度” 三維貪心演算法；路徑規劃採用 Dijkstra 演算法適配即時路況；碳排放計算採用 “車型 - 里程 - 載重” 多因數模型。</a:t>
            </a:r>
            <a:endParaRPr lang="zh-CN" altLang="en-US" sz="51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51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系統開發方法：採用模組化設計，支持企業按需選擇功能；通過低代碼開發降低中小企部署門檻。</a:t>
            </a:r>
            <a:endParaRPr lang="zh-CN" altLang="en-US" sz="51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51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驗證測試方法：先開展實驗室仿真測試，再</a:t>
            </a:r>
            <a:r>
              <a:rPr lang="zh-CN" altLang="en-US" sz="5100" dirty="0">
                <a:solidFill>
                  <a:schemeClr val="tx1">
                    <a:lumMod val="95000"/>
                    <a:lumOff val="5000"/>
                  </a:schemeClr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聯合多家企業</a:t>
            </a:r>
            <a:r>
              <a:rPr lang="zh-CN" altLang="en-US" sz="51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進行真實場景試點，採集數據迭代優化。</a:t>
            </a:r>
            <a:endParaRPr lang="zh-CN" altLang="en-US" sz="51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  <a:sym typeface="+mn-ea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研究內容</a:t>
            </a:r>
            <a:r>
              <a:rPr lang="zh-TW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與方法</a:t>
            </a:r>
            <a:r>
              <a:rPr lang="en-US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endParaRPr lang="zh-TW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82550" indent="0" algn="l">
              <a:buNone/>
            </a:pP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四、技術路線</a:t>
            </a:r>
            <a:endParaRPr lang="zh-CN" altLang="en-US" sz="2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需求調研與技術預研階段（2 個月）：走訪澳門港口、物流企業，明確核心痛點；完成 5G + 北斗、AI 演算法等關鍵技術選型。</a:t>
            </a:r>
            <a:endParaRPr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子系統開發階段（3 個月）：集中開發智能調度中樞、碳足跡追蹤引擎、低代碼平臺三大子系統。</a:t>
            </a:r>
            <a:endParaRPr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集成測試階段（2 個月）：完成子系統集成與內部測試，修復技術漏洞，優化功能邏輯。</a:t>
            </a:r>
            <a:endParaRPr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場景試點驗證階段（3 個月）：在商超配送、跨境運輸等場景試點，評估銜接效率、碳追蹤精度等指標。</a:t>
            </a:r>
            <a:endParaRPr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迭代完善與成果總結階段（2 個月）：基於試點回饋優化系統，編制技術手冊與推廣方案。</a:t>
            </a:r>
            <a:endParaRPr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研究內容</a:t>
            </a:r>
            <a:r>
              <a:rPr lang="zh-TW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與方法</a:t>
            </a:r>
            <a:r>
              <a:rPr lang="en-US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endParaRPr lang="zh-TW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82550" indent="0">
              <a:buNone/>
            </a:pP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五、擬解決的關鍵問題</a:t>
            </a:r>
            <a:endParaRPr lang="zh-CN" altLang="en-US" sz="4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車輛資訊碎片化：通過即時數據整合技術，實現資訊更新延遲≤10 秒，解決 Excel 記錄、電話溝通導致的資訊不同步問題。</a:t>
            </a:r>
            <a:endParaRPr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人工派車低效高誤配：通過多維度自動派車演算法，將派車回應時間壓縮至≤15 秒，誤配率降至 5% 以下。</a:t>
            </a:r>
            <a:endParaRPr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路徑規劃依賴經驗：整合即時路況數據，構建動態路徑引擎，路徑規劃精度≥95%，降低運輸延誤率 40%。</a:t>
            </a:r>
            <a:endParaRPr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調度與司機資訊脫節：基於 WebSocket 協議實現即時共用，資訊傳遞時長從 15 分鐘縮至 1 分鐘，提升異常處理效率。</a:t>
            </a:r>
            <a:endParaRPr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綠色運輸無據可依：通過碳足跡計算與電動貨車優先匹配，實現單趟運輸碳減排≥20%，提供標準化減排報告。</a:t>
            </a:r>
            <a:endParaRPr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800000"/>
                </a:solidFill>
                <a:effectLst/>
                <a:latin typeface="Songti TC Regular" panose="02010600040101010101" charset="-122"/>
                <a:ea typeface="Songti TC Regular" panose="02010600040101010101" charset="-122"/>
                <a:cs typeface="+mn-cs"/>
              </a:rPr>
              <a:t>本項目的創新性</a:t>
            </a:r>
            <a:endParaRPr lang="zh-CN" altLang="en-US" dirty="0">
              <a:solidFill>
                <a:srgbClr val="800000"/>
              </a:solidFill>
              <a:effectLst/>
              <a:latin typeface="Songti TC Regular" panose="02010600040101010101" charset="-122"/>
              <a:ea typeface="Songti TC Regular" panose="02010600040101010101" charset="-122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16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一、核心結論：</a:t>
            </a:r>
            <a:endParaRPr kumimoji="1" lang="zh-CN" altLang="en-US" sz="16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相較國內外單一功能、高依賴的同類技術，本項目以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一體化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低門檻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實用化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形成差異化優勢，創新聚焦全鏈路落地需求。</a:t>
            </a:r>
            <a:endParaRPr kumimoji="1" lang="zh-CN" altLang="en-US" sz="1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lang="zh-TW" altLang="en-US" sz="16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二、國內外最新技術現狀</a:t>
            </a:r>
            <a:endParaRPr lang="zh-TW" altLang="en-US" sz="16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功能單一：多聚焦路徑規劃、車輛追蹤等單點功能，缺乏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資訊整合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派車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共用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綠色調度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一體化設計；</a:t>
            </a:r>
            <a:endParaRPr kumimoji="1" lang="zh-CN" altLang="en-US" sz="1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跨境依賴：跨境物流系統多需對接政府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/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海關數據，中小企業落地門檻高；</a:t>
            </a:r>
            <a:endParaRPr kumimoji="1" lang="zh-CN" altLang="en-US" sz="1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綠色薄弱：綠色運輸研究偏政策層面，缺乏企業可直接使用的碳減排工具。</a:t>
            </a:r>
            <a:endParaRPr kumimoji="1" lang="zh-CN" altLang="en-US" sz="1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lang="zh-TW" altLang="en-US" sz="16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三、本項目優勢</a:t>
            </a:r>
            <a:endParaRPr lang="zh-TW" altLang="en-US" sz="16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一體化整合：覆蓋物流全流程，解決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多系統切換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麻煩；</a:t>
            </a:r>
            <a:endParaRPr kumimoji="1" lang="zh-CN" altLang="en-US" sz="1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獨立部署：無需官方數據介面，落地週期從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3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個月縮至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2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周；</a:t>
            </a:r>
            <a:endParaRPr kumimoji="1" lang="zh-CN" altLang="en-US" sz="1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低成本適配：模組化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低代碼設計，中小企可按需選擇，成本僅為同類定制系統的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20%-30%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。</a:t>
            </a:r>
            <a:endParaRPr kumimoji="1" lang="zh-CN" altLang="en-US" sz="1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800000"/>
                </a:solidFill>
                <a:effectLst/>
                <a:latin typeface="Songti TC Regular" panose="02010600040101010101" charset="-122"/>
                <a:ea typeface="Songti TC Regular" panose="02010600040101010101" charset="-122"/>
                <a:cs typeface="+mn-cs"/>
              </a:rPr>
              <a:t>本項目的創新性</a:t>
            </a:r>
            <a:endParaRPr lang="zh-CN" altLang="en-US" dirty="0">
              <a:solidFill>
                <a:srgbClr val="800000"/>
              </a:solidFill>
              <a:effectLst/>
              <a:latin typeface="Songti TC Regular" panose="02010600040101010101" charset="-122"/>
              <a:ea typeface="Songti TC Regular" panose="02010600040101010101" charset="-122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82550" indent="0" algn="l">
              <a:lnSpc>
                <a:spcPct val="150000"/>
              </a:lnSpc>
              <a:buNone/>
            </a:pPr>
            <a:r>
              <a:rPr lang="zh-TW" altLang="en-US" sz="18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四、本項目不足</a:t>
            </a:r>
            <a:endParaRPr lang="zh-TW" altLang="en-US" sz="18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場景覆蓋有限：當前主要適配澳門及大灣區，對偏遠地區跨境物流的適配性需後續驗證。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lang="zh-TW" altLang="en-US" sz="18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五、核心創新點</a:t>
            </a:r>
            <a:endParaRPr lang="zh-TW" altLang="en-US" sz="18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全鏈路整合創新：首次將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自動派車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動態路徑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即時共用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綠色調度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融合，填補企業級一體化工具空白；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落地模式創新：擺脫官方數據依賴，中小企業可獨立部署，降低數位化轉型門檻；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綠色實用創新：推出可直接落地的碳足跡計算與電動貨車優先匹配功能，而非單純政策宣導。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800000"/>
                </a:solidFill>
                <a:effectLst/>
                <a:latin typeface="Songti TC Regular" panose="02010600040101010101" charset="-122"/>
                <a:ea typeface="Songti TC Regular" panose="02010600040101010101" charset="-122"/>
                <a:cs typeface="+mn-cs"/>
              </a:rPr>
              <a:t>本項目的創新性</a:t>
            </a:r>
            <a:endParaRPr lang="zh-CN" altLang="en-US" dirty="0">
              <a:solidFill>
                <a:srgbClr val="800000"/>
              </a:solidFill>
              <a:effectLst/>
              <a:latin typeface="Songti TC Regular" panose="02010600040101010101" charset="-122"/>
              <a:ea typeface="Songti TC Regular" panose="02010600040101010101" charset="-122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82550" algn="l">
              <a:lnSpc>
                <a:spcPct val="150000"/>
              </a:lnSpc>
              <a:buNone/>
            </a:pPr>
            <a:r>
              <a:rPr lang="zh-TW" altLang="en-US" sz="18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五、核心創新點</a:t>
            </a:r>
            <a:endParaRPr lang="zh-TW" altLang="en-US" sz="18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技术創新：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即時數據傳輸優化：基於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5G +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數據壓縮技術，解決跨境數據延遲問題，車輛資訊更新間隔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≤10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秒，遠超行業平均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30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秒水準；</a:t>
            </a:r>
            <a:endParaRPr kumimoji="1" lang="zh-CN" altLang="en-US" sz="1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碳足跡精准計算模型：自主研發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車型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里程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載重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動態因數模型，適配燃油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/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電動貨車差異，碳計算誤差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≤5%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，優於行業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15%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的平均誤差；</a:t>
            </a:r>
            <a:endParaRPr kumimoji="1" lang="zh-CN" altLang="en-US" sz="1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羽量級系統架構：採用模組化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低代碼開發，適配中小企業伺服器資源，部署成本降低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70%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，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1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天內即可完成上線。</a:t>
            </a:r>
            <a:endParaRPr kumimoji="1" lang="zh-CN" altLang="en-US" sz="1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大模型技術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在調度方案生成的大模型技術上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，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先讓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LLM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為每個問題生成多個候選輸出，再通過自然語言推理技術，估計不同問題候選答案間的邏輯約束關係；最後借助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MaxSAT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求解器，從候選集中選出邏輯上最自洽的答案組合，從而確保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LLM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在多問題場景下的輸出具備嚴謹的邏輯一致性。</a:t>
            </a:r>
            <a:endParaRPr kumimoji="1" lang="zh-CN" altLang="en-US" sz="1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2610" y="4466590"/>
            <a:ext cx="4104005" cy="1483995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>
                <a:latin typeface="Songti TC Regular" panose="02010600040101010101" charset="-122"/>
                <a:ea typeface="Songti TC Regular" panose="02010600040101010101" charset="-122"/>
              </a:rPr>
              <a:t>可產業化的成果</a:t>
            </a:r>
            <a:endParaRPr lang="ja-JP" altLang="en-US" dirty="0">
              <a:latin typeface="Songti TC Regular" panose="02010600040101010101" charset="-122"/>
              <a:ea typeface="Songti TC Regular" panose="020106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350010"/>
            <a:ext cx="7498080" cy="4800600"/>
          </a:xfrm>
        </p:spPr>
        <p:txBody>
          <a:bodyPr>
            <a:normAutofit fontScale="60000"/>
          </a:bodyPr>
          <a:lstStyle/>
          <a:p>
            <a:pPr marL="82550" indent="0" algn="l">
              <a:lnSpc>
                <a:spcPct val="150000"/>
              </a:lnSpc>
              <a:buNone/>
            </a:pPr>
            <a:r>
              <a:rPr lang="zh-TW" altLang="en-US" sz="3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一、結題時預計可產業化成果</a:t>
            </a:r>
            <a:endParaRPr lang="zh-TW" altLang="en-US" sz="3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澳門智能運輸專線系統（含車輛資訊整合、自動派車、動態路徑規劃、即時共用、綠色調度五大核心模組）；</a:t>
            </a:r>
            <a:endParaRPr lang="zh-CN" altLang="en-US" sz="2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2 </a:t>
            </a: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項軟體著作權。</a:t>
            </a:r>
            <a:endParaRPr lang="zh-CN" altLang="en-US" sz="2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lang="zh-TW" altLang="en-US" sz="3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二、成果帶來的改變及影響</a:t>
            </a:r>
            <a:endParaRPr lang="zh-TW" altLang="en-US" sz="3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改變：企業車隊管理人工成本減少</a:t>
            </a:r>
            <a:r>
              <a:rPr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70%</a:t>
            </a: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，運輸效率提升</a:t>
            </a:r>
            <a:r>
              <a:rPr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20%</a:t>
            </a: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，單趟運輸碳排放量降低</a:t>
            </a:r>
            <a:r>
              <a:rPr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≥20%</a:t>
            </a: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，跨境物流銜接更順暢；</a:t>
            </a:r>
            <a:endParaRPr lang="zh-CN" altLang="en-US" sz="2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度量指標：資訊更新延遲</a:t>
            </a:r>
            <a:r>
              <a:rPr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≤10 </a:t>
            </a: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秒、自動派車回應</a:t>
            </a:r>
            <a:r>
              <a:rPr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≤15 </a:t>
            </a: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秒、路徑規劃精度</a:t>
            </a:r>
            <a:r>
              <a:rPr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≥95%</a:t>
            </a: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、誤配率＜</a:t>
            </a:r>
            <a:r>
              <a:rPr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5%</a:t>
            </a: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、異常傳遞時長</a:t>
            </a:r>
            <a:r>
              <a:rPr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≤1 </a:t>
            </a: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分鐘；</a:t>
            </a:r>
            <a:endParaRPr lang="zh-CN" altLang="en-US" sz="2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實現時間：</a:t>
            </a:r>
            <a:r>
              <a:rPr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12 </a:t>
            </a: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個月完成系統開發與試點，</a:t>
            </a:r>
            <a:r>
              <a:rPr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3 </a:t>
            </a: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年內覆蓋</a:t>
            </a:r>
            <a:r>
              <a:rPr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≥100</a:t>
            </a: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家企業。</a:t>
            </a:r>
            <a:endParaRPr lang="zh-CN" altLang="en-US" sz="2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>
                <a:latin typeface="Songti TC Regular" panose="02010600040101010101" charset="-122"/>
                <a:ea typeface="Songti TC Regular" panose="02010600040101010101" charset="-122"/>
              </a:rPr>
              <a:t>可產業化的成果</a:t>
            </a:r>
            <a:endParaRPr lang="ja-JP" altLang="en-US" dirty="0">
              <a:latin typeface="Songti TC Regular" panose="02010600040101010101" charset="-122"/>
              <a:ea typeface="Songti TC Regular" panose="020106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350010"/>
            <a:ext cx="7498080" cy="4800600"/>
          </a:xfrm>
        </p:spPr>
        <p:txBody>
          <a:bodyPr>
            <a:normAutofit fontScale="30000"/>
          </a:bodyPr>
          <a:lstStyle/>
          <a:p>
            <a:pPr marL="82550" indent="0" algn="l">
              <a:lnSpc>
                <a:spcPct val="150000"/>
              </a:lnSpc>
              <a:buNone/>
            </a:pPr>
            <a:r>
              <a:rPr lang="zh-TW" altLang="en-US" sz="6665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三、檢查與進展衡量</a:t>
            </a:r>
            <a:endParaRPr lang="zh-CN" altLang="en-US" sz="6665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中期檢查（第</a:t>
            </a:r>
            <a:r>
              <a:rPr lang="en-US" altLang="zh-CN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6 </a:t>
            </a:r>
            <a:r>
              <a:rPr lang="zh-CN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個月）：完成三大子系統（智能調度中樞、碳足跡追蹤引擎、低代碼平臺）開發；</a:t>
            </a:r>
            <a:endParaRPr lang="zh-CN" altLang="en-US" sz="5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終期檢查（第</a:t>
            </a:r>
            <a:r>
              <a:rPr lang="en-US" altLang="zh-CN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12 </a:t>
            </a:r>
            <a:r>
              <a:rPr lang="zh-CN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個月）：通過</a:t>
            </a:r>
            <a:r>
              <a:rPr lang="en-US" altLang="zh-CN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r>
              <a:rPr lang="zh-CN" altLang="en-US" sz="5000" dirty="0">
                <a:solidFill>
                  <a:schemeClr val="tx1">
                    <a:lumMod val="95000"/>
                    <a:lumOff val="5000"/>
                  </a:schemeClr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對多家</a:t>
            </a:r>
            <a:r>
              <a:rPr lang="zh-CN" altLang="en-US" sz="5000" dirty="0">
                <a:solidFill>
                  <a:schemeClr val="tx1">
                    <a:lumMod val="95000"/>
                    <a:lumOff val="5000"/>
                  </a:schemeClr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企業真實場景試點</a:t>
            </a:r>
            <a:r>
              <a:rPr lang="zh-CN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，核心技術指標全部達標；</a:t>
            </a:r>
            <a:endParaRPr lang="zh-CN" altLang="en-US" sz="5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進展衡量：按</a:t>
            </a:r>
            <a:r>
              <a:rPr lang="en-US" altLang="zh-CN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lang="zh-CN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需求調研</a:t>
            </a:r>
            <a:r>
              <a:rPr lang="en-US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→</a:t>
            </a:r>
            <a:r>
              <a:rPr lang="zh-CN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子系統開發</a:t>
            </a:r>
            <a:r>
              <a:rPr lang="en-US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→</a:t>
            </a:r>
            <a:r>
              <a:rPr lang="zh-CN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集成測試</a:t>
            </a:r>
            <a:r>
              <a:rPr lang="en-US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→</a:t>
            </a:r>
            <a:r>
              <a:rPr lang="zh-CN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場景試點</a:t>
            </a:r>
            <a:r>
              <a:rPr lang="en-US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→</a:t>
            </a:r>
            <a:r>
              <a:rPr lang="zh-CN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優化總結</a:t>
            </a:r>
            <a:r>
              <a:rPr lang="en-US" altLang="zh-CN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lang="zh-CN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五階段推進，每個階段交付對應成果（如調研報告、開發原型、測試報告等）。</a:t>
            </a:r>
            <a:endParaRPr lang="zh-CN" altLang="en-US" sz="5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lang="zh-TW" altLang="en-US" sz="6665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四、風險與回報</a:t>
            </a:r>
            <a:endParaRPr lang="zh-TW" altLang="en-US" sz="6665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風險：技術整合適配不暢，試點場景回饋與預期存在偏差；</a:t>
            </a:r>
            <a:endParaRPr lang="zh-CN" altLang="en-US" sz="5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回報：經濟回報（三年直接</a:t>
            </a:r>
            <a:r>
              <a:rPr lang="en-US" altLang="zh-CN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lang="zh-CN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間接效益</a:t>
            </a:r>
            <a:r>
              <a:rPr lang="en-US" altLang="zh-CN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≥4200 </a:t>
            </a:r>
            <a:r>
              <a:rPr lang="zh-CN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萬澳門元）；社會回報（降低車輛空駛率</a:t>
            </a:r>
            <a:r>
              <a:rPr lang="en-US" altLang="zh-CN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25%</a:t>
            </a:r>
            <a:r>
              <a:rPr lang="zh-CN" altLang="en-US" sz="5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、緩解交通壓力、助力大灣區物流一體化與澳門低碳城市建設）。</a:t>
            </a:r>
            <a:endParaRPr lang="zh-CN" altLang="en-US" sz="5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Songti TC Regular" panose="02010600040101010101" charset="-122"/>
                <a:ea typeface="Songti TC Regular" panose="02010600040101010101" charset="-122"/>
              </a:rPr>
              <a:t>研發成果的商業價值</a:t>
            </a:r>
            <a:endParaRPr lang="zh-TW" altLang="en-US" dirty="0">
              <a:solidFill>
                <a:srgbClr val="800000"/>
              </a:solidFill>
              <a:effectLst/>
              <a:latin typeface="Songti TC Regular" panose="02010600040101010101" charset="-122"/>
              <a:ea typeface="Songti TC Regular" panose="02010600040101010101" charset="-122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24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一、市場需求</a:t>
            </a:r>
            <a:r>
              <a:rPr lang="zh-CN" altLang="en-US" sz="24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：</a:t>
            </a:r>
            <a:endParaRPr lang="zh-CN" altLang="en-US" sz="24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澳門約</a:t>
            </a:r>
            <a:r>
              <a:rPr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500 </a:t>
            </a: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家物流企業中</a:t>
            </a:r>
            <a:r>
              <a:rPr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80% </a:t>
            </a: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為中小企業，普遍存在</a:t>
            </a:r>
            <a:r>
              <a:rPr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派車慢、路徑亂、減排難</a:t>
            </a:r>
            <a:r>
              <a:rPr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需求，市場成熟度高、需求迫切。</a:t>
            </a:r>
            <a:endParaRPr lang="zh-CN" altLang="en-US" sz="2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lang="zh-TW" altLang="en-US" sz="24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二、競爭優勢：</a:t>
            </a:r>
            <a:endParaRPr lang="zh-TW" altLang="en-US" sz="24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回應速度（派車</a:t>
            </a:r>
            <a:r>
              <a:rPr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≤15 </a:t>
            </a: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秒、路徑規劃</a:t>
            </a:r>
            <a:r>
              <a:rPr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≤10 </a:t>
            </a: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秒）遠超行業水準；部署成本僅為大企業定制系統的</a:t>
            </a:r>
            <a:r>
              <a:rPr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20%-30%</a:t>
            </a: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；無需官方協同，落地週期縮短至</a:t>
            </a:r>
            <a:r>
              <a:rPr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2 </a:t>
            </a: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周。</a:t>
            </a:r>
            <a:endParaRPr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lang="zh-TW" altLang="en-US" sz="24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三、產業化可能性：</a:t>
            </a:r>
            <a:endParaRPr lang="zh-TW" altLang="en-US" sz="24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核心技術（</a:t>
            </a:r>
            <a:r>
              <a:rPr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GPS</a:t>
            </a: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、動態演算法等）成熟，</a:t>
            </a: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已聯合多家企業達成測試意向</a:t>
            </a: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；符合澳門</a:t>
            </a:r>
            <a:r>
              <a:rPr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低碳城市</a:t>
            </a:r>
            <a:r>
              <a:rPr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規劃，易獲行業協會推薦，具備快速產業化條件。</a:t>
            </a:r>
            <a:endParaRPr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Songti TC Regular" panose="02010600040101010101" charset="-122"/>
                <a:ea typeface="Songti TC Regular" panose="02010600040101010101" charset="-122"/>
              </a:rPr>
              <a:t>預期的經濟效益</a:t>
            </a:r>
            <a:endParaRPr lang="zh-TW" altLang="en-US" dirty="0">
              <a:solidFill>
                <a:srgbClr val="800000"/>
              </a:solidFill>
              <a:effectLst/>
              <a:latin typeface="Songti TC Regular" panose="02010600040101010101" charset="-122"/>
              <a:ea typeface="Songti TC Regular" panose="02010600040101010101" charset="-122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24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一、行銷策略</a:t>
            </a:r>
            <a:r>
              <a:rPr kumimoji="1" lang="zh-CN" altLang="en-US" sz="24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：</a:t>
            </a:r>
            <a:endParaRPr kumimoji="1" lang="zh-CN" altLang="en-US" sz="24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採用</a:t>
            </a:r>
            <a:r>
              <a:rPr kumimoji="1"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基礎功能免費引流</a:t>
            </a:r>
            <a:r>
              <a:rPr kumimoji="1"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增值服務收費</a:t>
            </a:r>
            <a:r>
              <a:rPr kumimoji="1"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模式，針對中小企推出標準化服務，為中大型車隊提供定制開發。</a:t>
            </a:r>
            <a:endParaRPr kumimoji="1"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lang="zh-TW" altLang="en-US" sz="24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二、獲利方式：</a:t>
            </a:r>
            <a:endParaRPr lang="zh-TW" altLang="en-US" sz="24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依託技術創新性與獨佔性，通過服務年費（</a:t>
            </a:r>
            <a:r>
              <a:rPr kumimoji="1"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5000-10000 </a:t>
            </a: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澳門元</a:t>
            </a:r>
            <a:r>
              <a:rPr kumimoji="1"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/ </a:t>
            </a: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年）、定制開發收費實現盈利。</a:t>
            </a:r>
            <a:endParaRPr kumimoji="1"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lang="zh-TW" altLang="en-US" sz="24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三、量化指標：</a:t>
            </a:r>
            <a:endParaRPr lang="zh-TW" altLang="en-US" sz="24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三年累計服務</a:t>
            </a:r>
            <a:r>
              <a:rPr kumimoji="1"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≥300 </a:t>
            </a: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家企業，直接經濟效益</a:t>
            </a:r>
            <a:r>
              <a:rPr kumimoji="1"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≥600 </a:t>
            </a: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萬澳門元，間接經濟效益（幫企業降本增效）</a:t>
            </a:r>
            <a:r>
              <a:rPr kumimoji="1"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≥3600 </a:t>
            </a: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萬澳門元。</a:t>
            </a:r>
            <a:endParaRPr kumimoji="1"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Songti TC Regular" panose="02010600040101010101" charset="-122"/>
                <a:ea typeface="Songti TC Regular" panose="02010600040101010101" charset="-122"/>
              </a:rPr>
              <a:t>合作雙方的優勢及互補性</a:t>
            </a:r>
            <a:endParaRPr kumimoji="1" lang="zh-TW" altLang="en-US" dirty="0">
              <a:latin typeface="Songti TC Regular" panose="02010600040101010101" charset="-122"/>
              <a:ea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一、合作雙方優勢</a:t>
            </a:r>
            <a:r>
              <a:rPr kumimoji="1" lang="zh-CN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endParaRPr kumimoji="1" lang="zh-CN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①</a:t>
            </a:r>
            <a:r>
              <a:rPr kumimoji="1"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小城</a:t>
            </a:r>
            <a:r>
              <a:rPr kumimoji="1"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S </a:t>
            </a:r>
            <a:r>
              <a:rPr kumimoji="1"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一人有限公司：精准把握市場需求，具備場景落地、資金配套、專案管理能力；</a:t>
            </a:r>
            <a:endParaRPr kumimoji="1" lang="zh-CN" altLang="en-US" sz="2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②</a:t>
            </a:r>
            <a:r>
              <a:rPr kumimoji="1"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浙江大學：擁有頂尖科研團隊，在</a:t>
            </a:r>
            <a:r>
              <a:rPr kumimoji="1"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AI</a:t>
            </a:r>
            <a:r>
              <a:rPr kumimoji="1"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、大數據、演算法研發領域有深厚積累，提供理論與技術支撐。</a:t>
            </a:r>
            <a:endParaRPr kumimoji="1" lang="zh-CN" altLang="en-US" sz="6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二、互補性</a:t>
            </a:r>
            <a:r>
              <a:rPr kumimoji="1" lang="zh-CN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endParaRPr kumimoji="1" lang="zh-CN" altLang="en-US" sz="6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企業推動科技成果</a:t>
            </a:r>
            <a:r>
              <a:rPr kumimoji="1"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從</a:t>
            </a:r>
            <a:r>
              <a:rPr kumimoji="1"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1 </a:t>
            </a:r>
            <a:r>
              <a:rPr kumimoji="1"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到</a:t>
            </a:r>
            <a:r>
              <a:rPr kumimoji="1"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100” </a:t>
            </a:r>
            <a:r>
              <a:rPr kumimoji="1"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產業化落地，高校解決</a:t>
            </a:r>
            <a:r>
              <a:rPr kumimoji="1"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從</a:t>
            </a:r>
            <a:r>
              <a:rPr kumimoji="1"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0 </a:t>
            </a:r>
            <a:r>
              <a:rPr kumimoji="1"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到</a:t>
            </a:r>
            <a:r>
              <a:rPr kumimoji="1"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1” </a:t>
            </a:r>
            <a:r>
              <a:rPr kumimoji="1"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技術源頭創新；已通過產學研線上平臺配對成功，合作基礎扎實。</a:t>
            </a:r>
            <a:endParaRPr kumimoji="1" lang="zh-CN" altLang="en-US" sz="2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預算分析</a:t>
            </a:r>
            <a:r>
              <a:rPr lang="en-US" altLang="zh-TW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endParaRPr kumimoji="1" lang="zh-TW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一、申請金額</a:t>
            </a:r>
            <a:r>
              <a:rPr lang="zh-CN" altLang="en-US" sz="2000" b="1" dirty="0">
                <a:effectLst/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：</a:t>
            </a:r>
            <a:endParaRPr lang="zh-CN" altLang="en-US" sz="2000" dirty="0">
              <a:effectLst/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243,600 </a:t>
            </a:r>
            <a:r>
              <a:rPr lang="zh-CN" altLang="en-US" sz="18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澳門元（澳門元）</a:t>
            </a:r>
            <a:endParaRPr lang="zh-CN" altLang="en-US" sz="1800" dirty="0">
              <a:effectLst/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二、申請實體自行配套經費：</a:t>
            </a:r>
            <a:endParaRPr lang="zh-TW" altLang="en-US" sz="2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574,500 </a:t>
            </a:r>
            <a:r>
              <a:rPr lang="zh-CN" altLang="en-US" sz="18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澳門元（澳門元）</a:t>
            </a:r>
            <a:endParaRPr lang="zh-CN" altLang="en-US" sz="1800" dirty="0">
              <a:effectLst/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三、預算分類分析：</a:t>
            </a:r>
            <a:endParaRPr lang="zh-TW" altLang="en-US" sz="2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en-US" sz="18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①</a:t>
            </a:r>
            <a:r>
              <a:rPr lang="zh-CN" altLang="en-US" sz="18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系統開發類（</a:t>
            </a:r>
            <a:r>
              <a:rPr lang="en-US" altLang="zh-CN" sz="18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393,000 </a:t>
            </a:r>
            <a:r>
              <a:rPr lang="zh-CN" altLang="en-US" sz="18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元）：占比最高，用於核心功能開發與軟體著作權公證；</a:t>
            </a:r>
            <a:endParaRPr lang="zh-CN" altLang="en-US" sz="1800" dirty="0">
              <a:effectLst/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en-US" sz="18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②</a:t>
            </a:r>
            <a:r>
              <a:rPr lang="zh-CN" altLang="en-US" sz="18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協作服務類（</a:t>
            </a:r>
            <a:r>
              <a:rPr lang="en-US" altLang="zh-CN" sz="18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150,000 </a:t>
            </a:r>
            <a:r>
              <a:rPr lang="zh-CN" altLang="en-US" sz="18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元）：支付校企協作與演算法優化費用；</a:t>
            </a:r>
            <a:endParaRPr lang="zh-CN" altLang="en-US" sz="1800" dirty="0">
              <a:effectLst/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en-US" sz="18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③</a:t>
            </a:r>
            <a:r>
              <a:rPr lang="zh-CN" altLang="en-US" sz="18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研究差旅類（</a:t>
            </a:r>
            <a:r>
              <a:rPr lang="en-US" altLang="zh-CN" sz="18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45,000 </a:t>
            </a:r>
            <a:r>
              <a:rPr lang="zh-CN" altLang="en-US" sz="18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元）：保障異地研發溝通與測試</a:t>
            </a:r>
            <a:r>
              <a:rPr lang="zh-TW" altLang="zh-CN" sz="1800" dirty="0">
                <a:effectLst/>
                <a:latin typeface="Songti TC Regular" panose="02010600040101010101" charset="-122"/>
                <a:ea typeface="PMingLiU" panose="02020500000000000000" charset="-120"/>
                <a:cs typeface="Songti TC Regular" panose="02010600040101010101" charset="-122"/>
              </a:rPr>
              <a:t>。</a:t>
            </a:r>
            <a:endParaRPr lang="zh-TW" altLang="zh-CN" sz="1800" dirty="0">
              <a:effectLst/>
              <a:latin typeface="Songti TC Regular" panose="02010600040101010101" charset="-122"/>
              <a:ea typeface="PMingLiU" panose="02020500000000000000" charset="-120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Songti TC Regular" panose="02010600040101010101" charset="-122"/>
                <a:ea typeface="Songti TC Regular" panose="02010600040101010101" charset="-122"/>
              </a:rPr>
              <a:t>其他</a:t>
            </a:r>
            <a:endParaRPr kumimoji="1" lang="zh-TW" altLang="en-US" dirty="0">
              <a:latin typeface="Songti TC Regular" panose="02010600040101010101" charset="-122"/>
              <a:ea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專案負責人余偉成過往主持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/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參與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4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個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FDCT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資助專案（均已結題或順利推進），擁有豐富的跨境物流系統研發與專案管理經驗，可有效降低專案執行風險。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典雅色系">
  <a:themeElements>
    <a:clrScheme name="典雅色系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典雅色系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典雅色系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典雅色系.thmx</Template>
  <TotalTime>0</TotalTime>
  <Words>4248</Words>
  <Application>WPS 表格</Application>
  <PresentationFormat>On-screen Show (4:3)</PresentationFormat>
  <Paragraphs>163</Paragraphs>
  <Slides>18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44" baseType="lpstr">
      <vt:lpstr>Arial</vt:lpstr>
      <vt:lpstr>宋体</vt:lpstr>
      <vt:lpstr>Wingdings</vt:lpstr>
      <vt:lpstr>Wingdings 2</vt:lpstr>
      <vt:lpstr>Verdana</vt:lpstr>
      <vt:lpstr>Arial</vt:lpstr>
      <vt:lpstr>Songti TC Regular</vt:lpstr>
      <vt:lpstr>Songti TC Bold</vt:lpstr>
      <vt:lpstr>PMingLiU</vt:lpstr>
      <vt:lpstr>宋体-繁</vt:lpstr>
      <vt:lpstr>Gill Sans MT</vt:lpstr>
      <vt:lpstr>苹方-简</vt:lpstr>
      <vt:lpstr>微软雅黑</vt:lpstr>
      <vt:lpstr>汉仪旗黑</vt:lpstr>
      <vt:lpstr>宋体</vt:lpstr>
      <vt:lpstr>Arial Unicode MS</vt:lpstr>
      <vt:lpstr>微軟正黑體</vt:lpstr>
      <vt:lpstr>汉仪中黑KW</vt:lpstr>
      <vt:lpstr>华文中宋</vt:lpstr>
      <vt:lpstr>汉仪书宋二KW</vt:lpstr>
      <vt:lpstr>Calibri</vt:lpstr>
      <vt:lpstr>Helvetica Neue</vt:lpstr>
      <vt:lpstr>PMingLiU</vt:lpstr>
      <vt:lpstr>典雅色系</vt:lpstr>
      <vt:lpstr>自訂設計</vt:lpstr>
      <vt:lpstr>1_自訂設計</vt:lpstr>
      <vt:lpstr>項目中英文名稱： 澳門智能運輸專線系統 Australian Smart Logistics Express Line (SmartAusLink)</vt:lpstr>
      <vt:lpstr>研究目標 </vt:lpstr>
      <vt:lpstr>企業概況</vt:lpstr>
      <vt:lpstr>研究內容與方法 </vt:lpstr>
      <vt:lpstr>研究內容與方法 </vt:lpstr>
      <vt:lpstr>研究內容與方法 </vt:lpstr>
      <vt:lpstr>研究內容與方法 </vt:lpstr>
      <vt:lpstr>研究內容與方法 </vt:lpstr>
      <vt:lpstr>本項目的創新性</vt:lpstr>
      <vt:lpstr>本項目的創新性</vt:lpstr>
      <vt:lpstr>本項目的創新性</vt:lpstr>
      <vt:lpstr>可產業化的成果</vt:lpstr>
      <vt:lpstr>可產業化的成果</vt:lpstr>
      <vt:lpstr>研發成果的商業價值</vt:lpstr>
      <vt:lpstr>預期的經濟效益</vt:lpstr>
      <vt:lpstr>合作雙方的優勢及互補性</vt:lpstr>
      <vt:lpstr>預算分析 </vt:lpstr>
      <vt:lpstr>其他</vt:lpstr>
    </vt:vector>
  </TitlesOfParts>
  <Company>FDCT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項目名稱：abcdefg</dc:title>
  <dc:creator>Sky Chan</dc:creator>
  <cp:lastModifiedBy>qiyuzheng</cp:lastModifiedBy>
  <cp:revision>64</cp:revision>
  <dcterms:created xsi:type="dcterms:W3CDTF">2025-11-17T09:56:38Z</dcterms:created>
  <dcterms:modified xsi:type="dcterms:W3CDTF">2025-11-17T09:56:38Z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E8070C8B28363F9DEEE01A69556685BC_43</vt:lpwstr>
  </property>
  <property fmtid="{D5CDD505-2E9C-101B-9397-08002B2CF9AE}" pid="3" name="KSOProductBuildVer">
    <vt:lpwstr>2052-7.5.1.8994</vt:lpwstr>
  </property>
</Properties>
</file>