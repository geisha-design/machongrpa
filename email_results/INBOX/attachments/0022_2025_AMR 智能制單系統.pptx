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8"/>
  </p:notesMasterIdLst>
  <p:handoutMasterIdLst>
    <p:handoutMasterId r:id="rId23"/>
  </p:handoutMasterIdLst>
  <p:sldIdLst>
    <p:sldId id="256" r:id="rId5"/>
    <p:sldId id="258" r:id="rId6"/>
    <p:sldId id="268" r:id="rId7"/>
    <p:sldId id="274" r:id="rId9"/>
    <p:sldId id="259" r:id="rId10"/>
    <p:sldId id="272" r:id="rId11"/>
    <p:sldId id="271" r:id="rId12"/>
    <p:sldId id="275" r:id="rId13"/>
    <p:sldId id="261" r:id="rId14"/>
    <p:sldId id="277" r:id="rId15"/>
    <p:sldId id="267" r:id="rId16"/>
    <p:sldId id="273" r:id="rId17"/>
    <p:sldId id="266" r:id="rId18"/>
    <p:sldId id="269" r:id="rId19"/>
    <p:sldId id="265" r:id="rId20"/>
    <p:sldId id="262" r:id="rId21"/>
    <p:sldId id="26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規範" id="{AF1AA17C-BCB4-874A-9C52-C87F58B70EF1}">
          <p14:sldIdLst/>
        </p14:section>
        <p14:section name="示範" id="{8FC2453B-4468-2B47-BE3D-E88B547472AC}">
          <p14:sldIdLst>
            <p14:sldId id="256"/>
            <p14:sldId id="258"/>
            <p14:sldId id="268"/>
            <p14:sldId id="274"/>
            <p14:sldId id="259"/>
            <p14:sldId id="272"/>
            <p14:sldId id="271"/>
            <p14:sldId id="275"/>
            <p14:sldId id="261"/>
            <p14:sldId id="277"/>
            <p14:sldId id="267"/>
            <p14:sldId id="273"/>
            <p14:sldId id="266"/>
            <p14:sldId id="269"/>
            <p14:sldId id="265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2" autoAdjust="0"/>
    <p:restoredTop sz="81385" autoAdjust="0"/>
  </p:normalViewPr>
  <p:slideViewPr>
    <p:cSldViewPr snapToGrid="0" snapToObjects="1" showGuides="1">
      <p:cViewPr varScale="1">
        <p:scale>
          <a:sx n="86" d="100"/>
          <a:sy n="86" d="100"/>
        </p:scale>
        <p:origin x="19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0F53A-52FF-BE4D-8A83-304863818CCD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按一下以編輯母片文字樣式</a:t>
            </a:r>
            <a:endParaRPr kumimoji="1" lang="zh-CN" altLang="en-US"/>
          </a:p>
          <a:p>
            <a:pPr lvl="1"/>
            <a:r>
              <a:rPr kumimoji="1" lang="zh-CN" altLang="en-US"/>
              <a:t>第二層</a:t>
            </a:r>
            <a:endParaRPr kumimoji="1" lang="zh-CN" altLang="en-US"/>
          </a:p>
          <a:p>
            <a:pPr lvl="2"/>
            <a:r>
              <a:rPr kumimoji="1" lang="zh-CN" altLang="en-US"/>
              <a:t>第三層</a:t>
            </a:r>
            <a:endParaRPr kumimoji="1" lang="zh-CN" altLang="en-US"/>
          </a:p>
          <a:p>
            <a:pPr lvl="3"/>
            <a:r>
              <a:rPr kumimoji="1" lang="zh-CN" altLang="en-US"/>
              <a:t>第四層</a:t>
            </a:r>
            <a:endParaRPr kumimoji="1" lang="zh-CN" altLang="en-US"/>
          </a:p>
          <a:p>
            <a:pPr lvl="4"/>
            <a:r>
              <a:rPr kumimoji="1" lang="zh-CN" altLang="en-US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22" name="子標題 21"/>
          <p:cNvSpPr>
            <a:spLocks noGrp="1"/>
          </p:cNvSpPr>
          <p:nvPr>
            <p:ph type="subTitle" idx="1" hasCustomPrompt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按一下以編輯母片子標題樣式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292D-1797-49A5-8D2D-8D50C72EF3CC}" type="datetimeFigureOut">
              <a:rPr lang="en-US" smtClean="0"/>
            </a:fld>
            <a:endParaRPr 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ACD6-A525-4B49-8009-7F09B4461B46}" type="slidenum">
              <a:rPr lang="en-US" smtClean="0"/>
            </a:fld>
            <a:endParaRPr 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292D-1797-49A5-8D2D-8D50C72EF3CC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C888B-D9F9-4E54-B722-F151A9F45E95}" type="slidenum">
              <a:rPr lang="en-US" smtClean="0"/>
            </a:fld>
            <a:endParaRPr 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 hasCustomPrompt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TW" altLang="en-US"/>
              <a:t>將圖片拖曳至版面配置區或按一下圖示以新增</a:t>
            </a:r>
            <a:endParaRPr kumimoji="0" lang="en-US" dirty="0"/>
          </a:p>
        </p:txBody>
      </p:sp>
      <p:sp>
        <p:nvSpPr>
          <p:cNvPr id="9" name="流程圖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圖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  <a:p>
            <a:pPr lvl="1" eaLnBrk="1" latinLnBrk="0" hangingPunct="1"/>
            <a:r>
              <a:rPr kumimoji="0" lang="zh-TW" altLang="en-US"/>
              <a:t>第二層</a:t>
            </a:r>
            <a:endParaRPr kumimoji="0" lang="zh-TW" altLang="en-US"/>
          </a:p>
          <a:p>
            <a:pPr lvl="2" eaLnBrk="1" latinLnBrk="0" hangingPunct="1"/>
            <a:r>
              <a:rPr kumimoji="0" lang="zh-TW" altLang="en-US"/>
              <a:t>第三層</a:t>
            </a:r>
            <a:endParaRPr kumimoji="0" lang="zh-TW" altLang="en-US"/>
          </a:p>
          <a:p>
            <a:pPr lvl="3" eaLnBrk="1" latinLnBrk="0" hangingPunct="1"/>
            <a:r>
              <a:rPr kumimoji="0" lang="zh-TW" altLang="en-US"/>
              <a:t>第四層</a:t>
            </a:r>
            <a:endParaRPr kumimoji="0" lang="zh-TW" altLang="en-US"/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B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2560" y="359897"/>
            <a:ext cx="7406640" cy="2727639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項目中英文名稱：</a:t>
            </a:r>
            <a:b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</a:br>
            <a: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智能制單系統</a:t>
            </a:r>
            <a:br>
              <a:rPr kumimoji="1"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</a:br>
            <a:r>
              <a:rPr kumimoji="1" lang="en-US" altLang="zh-CN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SmartMac Auto-Form System (SmartMac)</a:t>
            </a:r>
            <a:endParaRPr kumimoji="1" lang="en-US" altLang="zh-CN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531089" y="4017908"/>
            <a:ext cx="7406640" cy="2270185"/>
          </a:xfrm>
        </p:spPr>
        <p:txBody>
          <a:bodyPr>
            <a:normAutofit/>
          </a:bodyPr>
          <a:lstStyle/>
          <a:p>
            <a:endParaRPr kumimoji="1" lang="en-US" altLang="zh-TW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申請實體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小城</a:t>
            </a:r>
            <a:r>
              <a:rPr kumimoji="1" lang="en-US" altLang="zh-CN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S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一人有限公司</a:t>
            </a:r>
            <a:endParaRPr kumimoji="1" lang="zh-CN" altLang="en-US" sz="24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項目負責人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余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偉成（總經理）</a:t>
            </a:r>
            <a:endParaRPr kumimoji="1" lang="zh-CN" altLang="en-US" sz="24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合作機構名稱</a:t>
            </a:r>
            <a:r>
              <a:rPr kumimoji="1" lang="en-US" altLang="zh-TW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: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浙江大學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合作機構項目負責人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：</a:t>
            </a:r>
            <a:r>
              <a:rPr kumimoji="1" lang="en-US" altLang="zh-CN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王燦（教授）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研究目標</a:t>
            </a:r>
            <a:r>
              <a:rPr lang="en-US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</a:t>
            </a: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配對需求及成果名稱：</a:t>
            </a:r>
            <a:endParaRPr lang="zh-TW" altLang="en-US" sz="24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智能制單系統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二、核心目標：</a:t>
            </a:r>
            <a:endParaRPr lang="zh-TW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解決粵港澳大灣區澳門 - 香港 - 內地跨境報關的 “痛點”—— 三地報關材料格式不一樣、規則不統一、系統接不上，不用再人工重複錄入和轉換單據。</a:t>
            </a:r>
            <a:endParaRPr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三、預期效果：</a:t>
            </a:r>
            <a:endParaRPr lang="zh-TW" altLang="en-US" sz="2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讓企業實現 “一次錄入、三地同步申報”，做到 “一地申報、三地通關”，降低中小企業操作難度和成本，推動三地貿易更便利。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Songti TC Regular" panose="02010600040101010101" charset="-122"/>
                <a:ea typeface="Songti TC Regular" panose="02010600040101010101" charset="-122"/>
              </a:rPr>
              <a:t>企業概況</a:t>
            </a:r>
            <a:endParaRPr lang="zh-TW" altLang="en-US" dirty="0">
              <a:effectLst/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3145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一、管理團隊：</a:t>
            </a:r>
            <a:endParaRPr lang="zh-TW" altLang="en-US" sz="314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負責人余偉成有 Google 區域主管工作經歷，多年主導跨境物流、智慧倉儲相關科研專案，經驗豐富；團隊由技術 + 產業複合型人才組成，既懂技術開發又懂市場需求。</a:t>
            </a:r>
            <a:endParaRPr lang="zh-TW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3665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二、技術積累：</a:t>
            </a:r>
            <a:endParaRPr lang="zh-TW" altLang="en-US" sz="3665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具備系統集成、物聯網設備管理、雲端 SaaS 平臺開發運維能力，擅長處理高併發交易數據，能對接多元硬體終端。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Songti TC Regular" panose="02010600040101010101" charset="-122"/>
                <a:ea typeface="Songti TC Regular" panose="02010600040101010101" charset="-122"/>
              </a:rPr>
              <a:t>企業概況</a:t>
            </a:r>
            <a:endParaRPr lang="zh-TW" altLang="en-US" dirty="0">
              <a:effectLst/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3665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三、基礎條件：</a:t>
            </a:r>
            <a:endParaRPr lang="zh-TW" altLang="en-US" sz="366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擁有真實跨境貿易業務數據、線下應用場景，以及終端網路和商戶資源，可作為專案測試和落地的 “試驗場”。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3665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四、資金情況：</a:t>
            </a:r>
            <a:endParaRPr lang="zh-TW" altLang="en-US" sz="366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專案自行配套經費 336,900 澳門元，資金與專案研發計畫匹配，籌措方案可信。</a:t>
            </a:r>
            <a:endParaRPr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研究内容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735" y="1160145"/>
            <a:ext cx="7498080" cy="5088255"/>
          </a:xfrm>
        </p:spPr>
        <p:txBody>
          <a:bodyPr>
            <a:normAutofit fontScale="25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88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一、總體定位</a:t>
            </a:r>
            <a:endParaRPr lang="zh-CN" altLang="en-US" sz="88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聚焦澳門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香港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內地跨境報關痛點，構建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格式適配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規則編程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介面聯通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低代碼賦能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架構，通過校企協同打造跨關區智能報關聯通系統，實現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一次錄入、三地同步、合規自動校驗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lang="zh-CN" altLang="en-US" sz="5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88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二、核心工作內容</a:t>
            </a:r>
            <a:endParaRPr lang="zh-CN" altLang="en-US" sz="88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格式處理模組：採集三地報關數據，建立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1200 +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組字段映射庫，開發多格式（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PDF/XML/JSON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）自動轉換演算法。</a:t>
            </a:r>
            <a:endParaRPr lang="zh-CN" altLang="en-US" sz="5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規則編程模組：梳理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2000 +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條三地報關規則，將法規轉化為數字邏輯，開發合規自動校驗功能。</a:t>
            </a:r>
            <a:endParaRPr lang="zh-CN" altLang="en-US" sz="5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介面聯通模組：適配多協議，開發統一介面層，實現三地海關系統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一介面調用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lang="zh-CN" altLang="en-US" sz="5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低代碼平臺：設計拖拽式配置介面，對接企業</a:t>
            </a:r>
            <a:r>
              <a:rPr lang="en-US" altLang="zh-CN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ERP </a:t>
            </a:r>
            <a:r>
              <a:rPr lang="zh-CN" altLang="en-US" sz="5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系統，降低使用門檻。</a:t>
            </a:r>
            <a:endParaRPr lang="zh-CN" altLang="en-US" sz="5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研究内容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735" y="1160145"/>
            <a:ext cx="7498080" cy="5088255"/>
          </a:xfrm>
        </p:spPr>
        <p:txBody>
          <a:bodyPr>
            <a:normAutofit lnSpcReduction="20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2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三、關鍵研究方法</a:t>
            </a:r>
            <a:endParaRPr lang="zh-CN" altLang="en-US" sz="22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多模態混合識別：提升混雜文本識別精度。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大模型微調：強化規則理解與執行能力。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Policy-as-Code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編程：實現政策動態執行與更新。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實證測試迭代：通過企業試點優化系統。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2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四、技術路線（四階段）</a:t>
            </a:r>
            <a:endParaRPr lang="zh-CN" altLang="en-US" sz="22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需求調研與數據準備（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3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個月）：明確需求，採集標注數據，搭建初始庫。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核心模組研發（一）（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3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個月）：開發格式識別、規則引擎，完成首輪測試。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核心模組研發（二）（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3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個月）：優化字段映射，對接三地介面，實現模組聯動。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系統集成與試點驗證（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3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個月）：集成模組，開發低代碼平臺，通過企業試點驗收。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研究内容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93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五、擬解決的關鍵問題</a:t>
            </a:r>
            <a:endParaRPr lang="zh-TW" altLang="en-US" sz="293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格式異構：自動轉換多格式報關材料，準確率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≥90%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規則不統一：自動校驗合規性，回應時間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≤30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介面不相容：統一介面聯通三地，回應時間</a:t>
            </a:r>
            <a:r>
              <a:rPr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≤10 </a:t>
            </a:r>
            <a:r>
              <a:rPr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秒。</a:t>
            </a: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735" y="1447800"/>
            <a:ext cx="7498080" cy="5193030"/>
          </a:xfrm>
        </p:spPr>
        <p:txBody>
          <a:bodyPr>
            <a:normAutofit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一、國內外技術現狀</a:t>
            </a:r>
            <a:endParaRPr lang="zh-TW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國內外現有解決方案多聚焦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單一地區報關自動化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：國外部分單證僅支持單一格式識別，國內如報關通僅覆蓋內地多口岸，均未實現澳門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香港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內地三地聯動，且缺乏跨關區規則統一校驗能力。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二、專案優勢</a:t>
            </a:r>
            <a:endParaRPr lang="zh-TW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首推三地聯通過關：唯一覆蓋澳</a:t>
            </a:r>
            <a:r>
              <a:rPr kumimoji="1" lang="en-US" altLang="zh-CN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港</a:t>
            </a:r>
            <a:r>
              <a:rPr kumimoji="1" lang="en-US" altLang="zh-CN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內跨關區的智能制單系統，實現</a:t>
            </a:r>
            <a:r>
              <a:rPr kumimoji="1" lang="en-US" altLang="zh-CN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一介面聯通三地</a:t>
            </a:r>
            <a:r>
              <a:rPr kumimoji="1" lang="en-US" altLang="zh-CN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</a:t>
            </a:r>
            <a:r>
              <a:rPr kumimoji="1" lang="zh-CN" altLang="en-US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，填補技術空白。</a:t>
            </a:r>
            <a:endParaRPr kumimoji="1" lang="zh-CN" altLang="en-US" sz="155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規則自動適配：將三地法規轉化為可執行代碼，解決合規模塊維護難問題。</a:t>
            </a:r>
            <a:endParaRPr kumimoji="1" lang="zh-CN" altLang="en-US" sz="1555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55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低門檻普惠：拖拽式低代碼設計，中小企業無需技術團隊即可使用。</a:t>
            </a:r>
            <a:endParaRPr kumimoji="1"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735" y="1447800"/>
            <a:ext cx="7498080" cy="5193030"/>
          </a:xfrm>
        </p:spPr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三、專案不足</a:t>
            </a:r>
            <a:endParaRPr kumimoji="1" lang="zh-CN" altLang="en-US" sz="24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初期試點範圍有限，系統泛化能力需更多真實場景數據優化。</a:t>
            </a:r>
            <a:endParaRPr kumimoji="1"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三地海關規則動態更新，需持續投入資源適配迭代。</a:t>
            </a:r>
            <a:endParaRPr kumimoji="1"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四、核心創新點</a:t>
            </a:r>
            <a:endParaRPr lang="zh-TW" altLang="en-US" sz="24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應用創新：首個針對性解決澳</a:t>
            </a:r>
            <a:r>
              <a:rPr kumimoji="1" lang="en-US" altLang="zh-CN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港</a:t>
            </a:r>
            <a:r>
              <a:rPr kumimoji="1" lang="en-US" altLang="zh-CN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內跨關區報關聯動的方案。</a:t>
            </a:r>
            <a:endParaRPr kumimoji="1"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模式創新：低代碼</a:t>
            </a:r>
            <a:r>
              <a:rPr kumimoji="1" lang="en-US" altLang="zh-CN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分層收費模式，提升中小企業市場滲透率。</a:t>
            </a:r>
            <a:endParaRPr kumimoji="1"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首創 “規則編程 + 格式適配 + 介面聯通” 三層架構，破解三地報關核心痛點。</a:t>
            </a:r>
            <a:endParaRPr kumimoji="1"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CN" altLang="zh-TW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四</a:t>
            </a: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、核心創新</a:t>
            </a:r>
            <a:r>
              <a:rPr lang="zh-CN" altLang="zh-TW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点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技術端突破</a:t>
            </a:r>
            <a:r>
              <a:rPr kumimoji="1" lang="en-US" altLang="zh-CN" sz="16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en-US" altLang="zh-CN" sz="16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多模態混合認知引擎：基於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Llama3-405B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微調大模型，融合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CNN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Transformer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架構，攻克手寫外文与印刷中文混杂、印章遮挡等识别难题，识别准确率超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92%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kumimoji="1" lang="zh-CN" altLang="en-US" sz="10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多模態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OCR/HTR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技術：融合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CNN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Transformer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架構與注意力機制，攻克手寫葡文與印刷中文混雜、印章遮擋、噪點掃描件等識別難題，單字符識別準確率超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92%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，支持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PDF/XML/JSON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多格式文本提取。</a:t>
            </a:r>
            <a:endParaRPr kumimoji="1" lang="zh-CN" altLang="en-US" sz="10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政策可編程化引擎：首創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“Policy-as-Code”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模式，將三地海關法規編譯為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WebAssembly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位元組碼，實現規則動態更新與自動執行，合規校驗回應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≤30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秒。</a:t>
            </a:r>
            <a:endParaRPr kumimoji="1" lang="zh-CN" altLang="en-US" sz="10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統一介面適配層：支持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HTTPS/SOAP/REST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多協議自動匹配，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RPA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數據對接接入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多手段對接三地海關系統，解決介面不相容問題，調用回應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≤10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秒。</a:t>
            </a:r>
            <a:endParaRPr kumimoji="1" lang="zh-CN" altLang="en-US" sz="10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模式創新：低代碼</a:t>
            </a:r>
            <a:r>
              <a:rPr kumimoji="1" lang="en-US" altLang="zh-CN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0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分層收費模式，降低中小企業使用門檻，提升市場滲透率。</a:t>
            </a:r>
            <a:endParaRPr kumimoji="1" lang="zh-CN" altLang="en-US" sz="10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0375" y="4443730"/>
            <a:ext cx="2058035" cy="2361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540" y="4961255"/>
            <a:ext cx="1420495" cy="171704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latin typeface="Songti TC Regular" panose="02010600040101010101" charset="-122"/>
                <a:ea typeface="Songti TC Regular" panose="02010600040101010101" charset="-122"/>
              </a:rPr>
              <a:t>可產業化的成果</a:t>
            </a:r>
            <a:endParaRPr lang="ja-JP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</a:t>
            </a: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、</a:t>
            </a: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結題時預期成果</a:t>
            </a:r>
            <a:endParaRPr lang="zh-TW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技術達標：格式轉換準確率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≥90%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、介面回應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≤10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秒、核驗差錯率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≤2.2%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知識產權：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項軟體著作權。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系統成熟度：達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TRL7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（真實場景驗證通過）。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</a:t>
            </a: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、</a:t>
            </a: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成果帶來的改變及影響</a:t>
            </a:r>
            <a:endParaRPr lang="zh-TW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改變：企業報關人工成本降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80%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，通關效率提升，三地數據互認無需重複錄入。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度量：按企業年節省成本、通關時間縮短比例、系統使用率統計。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時間：研發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12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個月，試點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個月，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1-3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年逐步規模化推廣。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latin typeface="Songti TC Regular" panose="02010600040101010101" charset="-122"/>
                <a:ea typeface="Songti TC Regular" panose="02010600040101010101" charset="-122"/>
              </a:rPr>
              <a:t>可產業化的成果</a:t>
            </a:r>
            <a:endParaRPr lang="ja-JP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2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</a:t>
            </a:r>
            <a:r>
              <a:rPr lang="zh-TW" altLang="en-US" sz="22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、</a:t>
            </a:r>
            <a:r>
              <a:rPr lang="zh-TW" altLang="en-US" sz="22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檢查與進展衡量</a:t>
            </a:r>
            <a:endParaRPr lang="zh-TW" altLang="en-US" sz="22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中期檢查（第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6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個月）：完成格式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規則模組研發，格式轉換準確率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≥85%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終期檢查（第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12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個月）：系統集成完成，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通過多家企業試點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，核心技術指標達標。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進展衡量：按數據採集量、模組開發進度、測試通過率分階段評估。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22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四、研究的風險和回報</a:t>
            </a:r>
            <a:endParaRPr lang="zh-TW" altLang="en-US" sz="22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風險：</a:t>
            </a:r>
            <a:r>
              <a:rPr lang="en-US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①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三地海關規則更新，適配需持續投入；</a:t>
            </a:r>
            <a:r>
              <a:rPr lang="en-US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②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試點數據不足，影響系統泛化。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回報：</a:t>
            </a:r>
            <a:r>
              <a:rPr lang="en-US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①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直接收益：首年為企業節省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1000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萬澳門元，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年帶動產業鏈增值</a:t>
            </a:r>
            <a:r>
              <a:rPr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 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億澳門元；</a:t>
            </a:r>
            <a:r>
              <a:rPr lang="en-US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②</a:t>
            </a: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間接收益：推動大灣區貿易便利化，助力澳門產業多元化。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研發成果的商業價值</a:t>
            </a:r>
            <a:endParaRPr lang="zh-TW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一、市場需求</a:t>
            </a:r>
            <a:r>
              <a:rPr lang="zh-CN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lang="zh-CN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粵港澳大灣區跨境貿易活躍，200 + 澳門本地跨境企業、1000 + 大灣區企業有迫切需求，市場成熟度高。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二、市場競爭優勢：</a:t>
            </a:r>
            <a:endParaRPr lang="zh-CN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技術性能（格式轉換準確率 95% vs 行業 80%，回應時間 10 秒 vs 行業 30 秒）領先；成本優勢（中小企業無需單獨對接三地系統，節省 5-10 萬 / 年對接費）；政策優勢契合大灣區 “軟聯通” 戰略，已與珠海報關協會達成初步合作。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三、產業化可能性：</a:t>
            </a:r>
            <a:endParaRPr lang="zh-CN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路徑清晰 ——3 個月內澳門 5 家企業試點，6-12 個月拓展至香港、珠海，1-3 年 SaaS 模式覆蓋 2000 + 企業；條件成熟 —— 核心技術通過實驗室驗證，企業試點意願強，校企合作保障持續迭代。</a:t>
            </a:r>
            <a:endParaRPr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預期的經濟效益</a:t>
            </a:r>
            <a:endParaRPr lang="zh-TW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一、量化指標</a:t>
            </a:r>
            <a:r>
              <a:rPr kumimoji="1" lang="zh-CN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第一年（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2027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年）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800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萬澳門元，第二年（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2028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年）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1000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萬澳門元，第三年（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2029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年）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2000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萬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澳門元。</a:t>
            </a:r>
            <a:endParaRPr kumimoji="1" lang="zh-CN" altLang="en-US" sz="18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二、獲利方式</a:t>
            </a:r>
            <a:r>
              <a:rPr kumimoji="1" lang="zh-CN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基礎功能免費吸引用戶，高級功能（自動上報、通關跟蹤）按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1000-3000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月訂閱收費，定制服務（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ERP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深度對接）按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5-20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單收費；依託技術獨佔性和規模效應實現盈利。</a:t>
            </a:r>
            <a:endParaRPr kumimoji="1"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三、行銷策略</a:t>
            </a:r>
            <a:r>
              <a:rPr kumimoji="1" lang="zh-CN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0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與跨境物流商協會、貿易園區合作推廣；上線雲端</a:t>
            </a:r>
            <a:r>
              <a:rPr kumimoji="1" lang="en-US" altLang="zh-CN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SaaS </a:t>
            </a: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版本，覆蓋大灣區主要城市；以試點標杆案例帶動行業推廣。</a:t>
            </a:r>
            <a:endParaRPr kumimoji="1"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合作雙方的優勢及互補性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企業（小城 S 一人有限公司）優勢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精准把握跨境報關市場需求，有成熟的產業化落地能力、真實業務數據和線下場景，擅長系統集成和市場運營。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高校（浙江大學）優勢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在人工智慧、大模型、多模態識別等領域科研積累深厚，擁有頂尖技術團隊和人才儲備，能攻克核心技術難題。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互補性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企業負責市場需求對接、專案管理、產業化落地，解決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成果轉化最後一公里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問題；高校負責核心技術研發、理論支撐、人才支持，解決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源頭創新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問題；雙方形成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高校攻關技術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企業轉化應用</a:t>
            </a:r>
            <a:r>
              <a:rPr kumimoji="1" lang="en-US" altLang="zh-CN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的協同模式，彌補各自短板。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合作基礎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已通過產學研線上配對接成功，簽訂合作協議，明確職責分工和成果共用機制。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預算分析</a:t>
            </a:r>
            <a:r>
              <a:rPr lang="en-US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一、申請金額</a:t>
            </a:r>
            <a:r>
              <a:rPr lang="zh-CN" altLang="en-US" sz="2000" b="1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lang="zh-CN" altLang="en-US" sz="2000" b="1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250,000.00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</a:t>
            </a:r>
            <a:endParaRPr lang="zh-CN" altLang="en-US" sz="16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二、申請實體自行配套經費</a:t>
            </a:r>
            <a:r>
              <a:rPr lang="zh-CN" altLang="en-US" sz="20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lang="zh-CN" altLang="en-US" sz="20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336,900.00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</a:t>
            </a:r>
            <a:endParaRPr lang="zh-CN" altLang="en-US" sz="16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三、預算分類分析</a:t>
            </a:r>
            <a:r>
              <a:rPr lang="zh-CN" altLang="en-US" sz="2000" b="1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lang="zh-CN" altLang="en-US" sz="2000" b="1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①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AI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核心模型構建（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120,000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澳門元，占申請金額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48%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）：用於微調大模型、開發多模態認知引擎，含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名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AI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演算法工程師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12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個月服務費；</a:t>
            </a:r>
            <a:endParaRPr lang="zh-CN" altLang="en-US" sz="16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②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數據採集（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75,000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澳門元，占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30%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）：採購三地海關報關數據樣本，用於模型訓練；</a:t>
            </a:r>
            <a:endParaRPr lang="zh-CN" altLang="en-US" sz="16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③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協作費（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60,000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澳門元，占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24%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）：浙江大學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AI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技術指導費；</a:t>
            </a:r>
            <a:endParaRPr lang="zh-CN" altLang="en-US" sz="16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④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其他（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25,000 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澳門元，占</a:t>
            </a:r>
            <a:r>
              <a:rPr lang="en-US" altLang="zh-CN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8%</a:t>
            </a:r>
            <a:r>
              <a:rPr lang="zh-CN" altLang="en-US" sz="1600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）：差旅、軟著申報等，預算分配貼合專案研發核心需求。</a:t>
            </a:r>
            <a:endParaRPr lang="zh-CN" altLang="en-US" sz="1600" dirty="0">
              <a:effectLst/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其他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18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一、專案負責人過往成果</a:t>
            </a:r>
            <a:r>
              <a:rPr kumimoji="1" lang="zh-CN" altLang="en-US" sz="18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18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余偉成曾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4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次申請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FDCT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專案，均獲批准，其中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項已結題，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項進行中，專案執行效果良好，具備豐富的科研專案管理和落地經驗。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18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二、補充說明</a:t>
            </a:r>
            <a:r>
              <a:rPr kumimoji="1" lang="zh-CN" altLang="en-US" sz="18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zh-CN" altLang="en-US" sz="1800" b="1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專案已初步接洽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多家澳門跨境企業作為試點，技術落地場景明確；後續可拓展至葡語國家，市場潛力大，契合澳門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商貿平臺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戰略定位。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典雅色系">
  <a:themeElements>
    <a:clrScheme name="典雅色系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典雅色系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典雅色系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典雅色系.thmx</Template>
  <TotalTime>0</TotalTime>
  <Words>3721</Words>
  <Application>WPS 演示</Application>
  <PresentationFormat>On-screen Show (4:3)</PresentationFormat>
  <Paragraphs>160</Paragraphs>
  <Slides>17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42" baseType="lpstr">
      <vt:lpstr>Arial</vt:lpstr>
      <vt:lpstr>宋体</vt:lpstr>
      <vt:lpstr>Wingdings</vt:lpstr>
      <vt:lpstr>Wingdings 2</vt:lpstr>
      <vt:lpstr>Verdana</vt:lpstr>
      <vt:lpstr>Arial</vt:lpstr>
      <vt:lpstr>Songti TC Regular</vt:lpstr>
      <vt:lpstr>Songti TC Bold</vt:lpstr>
      <vt:lpstr>Gill Sans MT</vt:lpstr>
      <vt:lpstr>苹方-简</vt:lpstr>
      <vt:lpstr>微软雅黑</vt:lpstr>
      <vt:lpstr>宋体</vt:lpstr>
      <vt:lpstr>Arial Unicode MS</vt:lpstr>
      <vt:lpstr>微軟正黑體</vt:lpstr>
      <vt:lpstr>汉仪中黑KW</vt:lpstr>
      <vt:lpstr>华文中宋</vt:lpstr>
      <vt:lpstr>汉仪书宋二KW</vt:lpstr>
      <vt:lpstr>Calibri</vt:lpstr>
      <vt:lpstr>Helvetica Neue</vt:lpstr>
      <vt:lpstr>思源黑体 CN</vt:lpstr>
      <vt:lpstr>PMingLiU</vt:lpstr>
      <vt:lpstr>宋体-繁</vt:lpstr>
      <vt:lpstr>典雅色系</vt:lpstr>
      <vt:lpstr>自訂設計</vt:lpstr>
      <vt:lpstr>1_自訂設計</vt:lpstr>
      <vt:lpstr>項目中英文名稱： 智能制單系統 SmartMac Auto-Form System (SmartMac)</vt:lpstr>
      <vt:lpstr>研究目標 </vt:lpstr>
      <vt:lpstr>企業概況</vt:lpstr>
      <vt:lpstr>企業概況</vt:lpstr>
      <vt:lpstr>研究内容與方法 </vt:lpstr>
      <vt:lpstr>研究内容與方法 </vt:lpstr>
      <vt:lpstr>研究内容與方法 </vt:lpstr>
      <vt:lpstr>本項目的創新性</vt:lpstr>
      <vt:lpstr>本項目的創新性</vt:lpstr>
      <vt:lpstr>本項目的創新性</vt:lpstr>
      <vt:lpstr>可產業化的成果</vt:lpstr>
      <vt:lpstr>可產業化的成果</vt:lpstr>
      <vt:lpstr>研發成果的商業價值</vt:lpstr>
      <vt:lpstr>預期的經濟效益</vt:lpstr>
      <vt:lpstr>合作雙方的優勢及互補性</vt:lpstr>
      <vt:lpstr>預算分析 </vt:lpstr>
      <vt:lpstr>其他</vt:lpstr>
    </vt:vector>
  </TitlesOfParts>
  <Company>FDCT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項目名稱：abcdefg</dc:title>
  <dc:creator>Sky Chan</dc:creator>
  <cp:lastModifiedBy>WPS_1560584740</cp:lastModifiedBy>
  <cp:revision>85</cp:revision>
  <dcterms:created xsi:type="dcterms:W3CDTF">2025-11-21T07:33:14Z</dcterms:created>
  <dcterms:modified xsi:type="dcterms:W3CDTF">2025-11-21T07:33:14Z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CA9385D3D02B125105E31A69DAD43BC6_43</vt:lpwstr>
  </property>
  <property fmtid="{D5CDD505-2E9C-101B-9397-08002B2CF9AE}" pid="3" name="KSOProductBuildVer">
    <vt:lpwstr>2052-6.7.1.8828</vt:lpwstr>
  </property>
</Properties>
</file>